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74" r:id="rId7"/>
    <p:sldId id="261" r:id="rId8"/>
    <p:sldId id="273" r:id="rId9"/>
    <p:sldId id="262" r:id="rId10"/>
    <p:sldId id="264" r:id="rId11"/>
    <p:sldId id="277" r:id="rId12"/>
    <p:sldId id="266" r:id="rId13"/>
    <p:sldId id="267" r:id="rId14"/>
    <p:sldId id="268" r:id="rId15"/>
    <p:sldId id="269" r:id="rId16"/>
    <p:sldId id="279" r:id="rId17"/>
    <p:sldId id="280" r:id="rId18"/>
    <p:sldId id="281" r:id="rId19"/>
    <p:sldId id="271" r:id="rId20"/>
    <p:sldId id="272" r:id="rId21"/>
  </p:sldIdLst>
  <p:sldSz cx="12192000" cy="6858000"/>
  <p:notesSz cx="6858000" cy="9144000"/>
  <p:embeddedFontLst>
    <p:embeddedFont>
      <p:font typeface="Arial Narrow" panose="020B060602020203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f10L9/O25FquuOPl/RY1EpRjf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DD818E-ADFA-4579-856F-A3140DA02BD1}">
  <a:tblStyle styleId="{3CDD818E-ADFA-4579-856F-A3140DA02BD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FFC7DFEF-3B2E-D017-0B21-BC210BF462AC}"/>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1B5CA6E9-7386-2799-6840-751B808D74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EA42349E-92BC-7FC0-2C31-D4076D7383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9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0B7A48E1-6245-2644-8E9F-7A8372901BBE}"/>
            </a:ext>
          </a:extLst>
        </p:cNvPr>
        <p:cNvGrpSpPr/>
        <p:nvPr/>
      </p:nvGrpSpPr>
      <p:grpSpPr>
        <a:xfrm>
          <a:off x="0" y="0"/>
          <a:ext cx="0" cy="0"/>
          <a:chOff x="0" y="0"/>
          <a:chExt cx="0" cy="0"/>
        </a:xfrm>
      </p:grpSpPr>
      <p:sp>
        <p:nvSpPr>
          <p:cNvPr id="178" name="Google Shape;178;p14:notes">
            <a:extLst>
              <a:ext uri="{FF2B5EF4-FFF2-40B4-BE49-F238E27FC236}">
                <a16:creationId xmlns:a16="http://schemas.microsoft.com/office/drawing/2014/main" id="{126BE041-E8BB-AC9D-1E6B-22B041168D0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a:extLst>
              <a:ext uri="{FF2B5EF4-FFF2-40B4-BE49-F238E27FC236}">
                <a16:creationId xmlns:a16="http://schemas.microsoft.com/office/drawing/2014/main" id="{F632FC74-948E-F1ED-72C0-4D7C93ACE6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0600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3C1E655B-A341-3619-F687-C18AD4E094FE}"/>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42A01C9D-D513-EC7A-DB57-5A2A126154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a:extLst>
              <a:ext uri="{FF2B5EF4-FFF2-40B4-BE49-F238E27FC236}">
                <a16:creationId xmlns:a16="http://schemas.microsoft.com/office/drawing/2014/main" id="{20F5E407-20E3-63F2-7964-49A89E8D0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8853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IN" sz="1400" b="0" strike="noStrike" spc="-1">
              <a:solidFill>
                <a:srgbClr val="000000"/>
              </a:solidFill>
              <a:latin typeface="Arial"/>
            </a:endParaRPr>
          </a:p>
        </p:txBody>
      </p:sp>
      <p:sp>
        <p:nvSpPr>
          <p:cNvPr id="6"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spcBef>
                <a:spcPts val="1417"/>
              </a:spcBef>
              <a:buNone/>
            </a:pPr>
            <a:endParaRPr lang="en-IN" sz="14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DC3CD227-37D9-42E5-A455-087AFBCE0BE1}" type="slidenum">
              <a:t>‹#›</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56762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261257" y="2159687"/>
            <a:ext cx="11636830" cy="43792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600" b="1" dirty="0">
                <a:latin typeface="Arial Narrow"/>
                <a:ea typeface="Arial Narrow"/>
                <a:cs typeface="Arial Narrow"/>
                <a:sym typeface="Arial Narrow"/>
              </a:rPr>
              <a:t>DEPARTMENT OF COMPUTER SCIENCE AND ENGINEERING</a:t>
            </a:r>
            <a:endParaRPr dirty="0">
              <a:latin typeface="Arial Narrow"/>
              <a:ea typeface="Arial Narrow"/>
              <a:cs typeface="Arial Narrow"/>
              <a:sym typeface="Arial Narrow"/>
            </a:endParaRPr>
          </a:p>
          <a:p>
            <a:pPr marL="0" lvl="0" indent="0" algn="ctr">
              <a:buSzPts val="3600"/>
              <a:buNone/>
            </a:pPr>
            <a:r>
              <a:rPr lang="en-US" b="1" dirty="0">
                <a:latin typeface="Arial Narrow"/>
                <a:ea typeface="Arial Narrow"/>
                <a:cs typeface="Arial Narrow"/>
                <a:sym typeface="Arial Narrow"/>
              </a:rPr>
              <a:t>20CS7503 &amp; DESIGN PROJECT – III</a:t>
            </a:r>
          </a:p>
          <a:p>
            <a:pPr marL="0" lvl="0" indent="0" algn="ctr">
              <a:buSzPts val="3600"/>
              <a:buNone/>
            </a:pPr>
            <a:endParaRPr lang="en-US" b="1" dirty="0">
              <a:latin typeface="Arial Narrow"/>
              <a:sym typeface="Arial Narrow"/>
            </a:endParaRPr>
          </a:p>
          <a:p>
            <a:pPr marL="0" lvl="0" indent="0" algn="ctr">
              <a:buSzPts val="3600"/>
              <a:buNone/>
            </a:pPr>
            <a:r>
              <a:rPr lang="en-US" b="1" dirty="0"/>
              <a:t>END SEMESTER PRACTICAL EXAMINATION- NOV / DEC 2025</a:t>
            </a:r>
            <a:endParaRPr lang="en-US" dirty="0"/>
          </a:p>
          <a:p>
            <a:pPr marL="0" lvl="0" indent="0" algn="ctr" rtl="0">
              <a:lnSpc>
                <a:spcPct val="90000"/>
              </a:lnSpc>
              <a:spcBef>
                <a:spcPts val="1000"/>
              </a:spcBef>
              <a:spcAft>
                <a:spcPts val="0"/>
              </a:spcAft>
              <a:buClr>
                <a:schemeClr val="dk1"/>
              </a:buClr>
              <a:buSzPts val="2800"/>
              <a:buNone/>
            </a:pPr>
            <a:r>
              <a:rPr lang="en-US" b="1" u="sng" dirty="0">
                <a:latin typeface="Arial Narrow"/>
                <a:ea typeface="Arial Narrow"/>
                <a:cs typeface="Arial Narrow"/>
                <a:sym typeface="Arial Narrow"/>
              </a:rPr>
              <a:t>REVIEW PRESENTATION</a:t>
            </a:r>
            <a:endParaRPr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Batch No: 03</a:t>
            </a:r>
            <a:endParaRPr lang="en-US"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Date: 01-12-2025</a:t>
            </a: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Session: FN</a:t>
            </a:r>
            <a:endParaRPr b="1" dirty="0">
              <a:latin typeface="Arial Narrow"/>
              <a:ea typeface="Arial Narrow"/>
              <a:cs typeface="Arial Narrow"/>
              <a:sym typeface="Arial Narrow"/>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1</a:t>
            </a:fld>
            <a:endParaRPr b="1" dirty="0">
              <a:solidFill>
                <a:schemeClr val="dk1"/>
              </a:solidFill>
              <a:latin typeface="Times New Roman"/>
              <a:ea typeface="Times New Roman"/>
              <a:cs typeface="Times New Roman"/>
              <a:sym typeface="Times New Roman"/>
            </a:endParaRPr>
          </a:p>
        </p:txBody>
      </p:sp>
      <p:pic>
        <p:nvPicPr>
          <p:cNvPr id="91" name="Google Shape;91;p1"/>
          <p:cNvPicPr preferRelativeResize="0"/>
          <p:nvPr/>
        </p:nvPicPr>
        <p:blipFill>
          <a:blip r:embed="rId3">
            <a:alphaModFix/>
          </a:blip>
          <a:srcRect l="16357" r="14907" b="8148"/>
          <a:stretch>
            <a:fillRect/>
          </a:stretch>
        </p:blipFill>
        <p:spPr>
          <a:xfrm>
            <a:off x="11215585" y="65332"/>
            <a:ext cx="903515" cy="511635"/>
          </a:xfrm>
          <a:prstGeom prst="rect">
            <a:avLst/>
          </a:prstGeom>
          <a:noFill/>
          <a:ln>
            <a:noFill/>
          </a:ln>
        </p:spPr>
      </p:pic>
      <p:pic>
        <p:nvPicPr>
          <p:cNvPr id="3" name="Picture 2">
            <a:extLst>
              <a:ext uri="{FF2B5EF4-FFF2-40B4-BE49-F238E27FC236}">
                <a16:creationId xmlns:a16="http://schemas.microsoft.com/office/drawing/2014/main" id="{1F1154A9-AC42-7CD3-98A5-5A0376D6534E}"/>
              </a:ext>
            </a:extLst>
          </p:cNvPr>
          <p:cNvPicPr>
            <a:picLocks noChangeAspect="1"/>
          </p:cNvPicPr>
          <p:nvPr/>
        </p:nvPicPr>
        <p:blipFill>
          <a:blip r:embed="rId4"/>
          <a:stretch>
            <a:fillRect/>
          </a:stretch>
        </p:blipFill>
        <p:spPr>
          <a:xfrm>
            <a:off x="104932" y="0"/>
            <a:ext cx="5348811" cy="187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body" idx="1"/>
          </p:nvPr>
        </p:nvSpPr>
        <p:spPr>
          <a:xfrm>
            <a:off x="1676400" y="245806"/>
            <a:ext cx="8839200" cy="138634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600" b="1" dirty="0">
                <a:latin typeface="Times New Roman" panose="02020603050405020304" pitchFamily="18" charset="0"/>
                <a:ea typeface="Arial Narrow"/>
                <a:cs typeface="Times New Roman" panose="02020603050405020304" pitchFamily="18" charset="0"/>
                <a:sym typeface="Arial Narrow"/>
              </a:rPr>
              <a:t>AI POWERED PETITION ANALYSIS AND CATEGORIZATION USING NLP</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2</a:t>
            </a:fld>
            <a:endParaRPr b="1">
              <a:solidFill>
                <a:schemeClr val="dk1"/>
              </a:solidFill>
              <a:latin typeface="Times New Roman"/>
              <a:ea typeface="Times New Roman"/>
              <a:cs typeface="Times New Roman"/>
              <a:sym typeface="Times New Roman"/>
            </a:endParaRPr>
          </a:p>
        </p:txBody>
      </p:sp>
      <p:sp>
        <p:nvSpPr>
          <p:cNvPr id="98" name="Google Shape;98;p2"/>
          <p:cNvSpPr txBox="1">
            <a:spLocks noGrp="1"/>
          </p:cNvSpPr>
          <p:nvPr>
            <p:ph type="body" idx="1"/>
          </p:nvPr>
        </p:nvSpPr>
        <p:spPr>
          <a:xfrm>
            <a:off x="495816" y="3594414"/>
            <a:ext cx="5147900" cy="166584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Tahoma" panose="020B0604030504040204" pitchFamily="34" charset="0"/>
                <a:cs typeface="Times New Roman" panose="02020603050405020304" pitchFamily="18" charset="0"/>
                <a:sym typeface="Times New Roman"/>
              </a:rPr>
              <a:t>Guide Name</a:t>
            </a:r>
            <a:r>
              <a:rPr lang="en-US" sz="2400" b="1" dirty="0">
                <a:latin typeface="Arial Narrow" panose="020B0606020202030204" pitchFamily="34" charset="0"/>
                <a:ea typeface="Times New Roman"/>
                <a:cs typeface="Times New Roman"/>
                <a:sym typeface="Times New Roman"/>
              </a:rPr>
              <a:t>: </a:t>
            </a:r>
          </a:p>
          <a:p>
            <a:pPr marL="0" lvl="0" indent="0" algn="l" rtl="0">
              <a:lnSpc>
                <a:spcPct val="90000"/>
              </a:lnSpc>
              <a:spcBef>
                <a:spcPts val="1000"/>
              </a:spcBef>
              <a:spcAft>
                <a:spcPts val="0"/>
              </a:spcAft>
              <a:buClr>
                <a:schemeClr val="dk1"/>
              </a:buClr>
              <a:buSzPts val="2400"/>
              <a:buNone/>
            </a:pPr>
            <a:r>
              <a:rPr lang="en-US" sz="2400" dirty="0">
                <a:latin typeface="Times New Roman" panose="02020603050405020304" pitchFamily="18" charset="0"/>
                <a:ea typeface="Times New Roman"/>
                <a:cs typeface="Times New Roman" panose="02020603050405020304" pitchFamily="18" charset="0"/>
                <a:sym typeface="Times New Roman"/>
              </a:rPr>
              <a:t>M. MATHUMATHI, M.E., (Ph.D.,)</a:t>
            </a:r>
            <a:endParaRPr dirty="0">
              <a:latin typeface="Times New Roman" panose="02020603050405020304" pitchFamily="18" charset="0"/>
              <a:ea typeface="Times New Roman"/>
              <a:cs typeface="Times New Roman" panose="02020603050405020304" pitchFamily="18" charset="0"/>
              <a:sym typeface="Times New Roman"/>
            </a:endParaRPr>
          </a:p>
        </p:txBody>
      </p:sp>
      <p:sp>
        <p:nvSpPr>
          <p:cNvPr id="99" name="Google Shape;99;p2"/>
          <p:cNvSpPr txBox="1">
            <a:spLocks noGrp="1"/>
          </p:cNvSpPr>
          <p:nvPr>
            <p:ph type="body" idx="1"/>
          </p:nvPr>
        </p:nvSpPr>
        <p:spPr>
          <a:xfrm>
            <a:off x="7386833" y="3631450"/>
            <a:ext cx="4612500"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Times New Roman"/>
                <a:cs typeface="Times New Roman" panose="02020603050405020304" pitchFamily="18" charset="0"/>
                <a:sym typeface="Times New Roman"/>
              </a:rPr>
              <a:t>Team Members</a:t>
            </a:r>
            <a:r>
              <a:rPr lang="en-US" sz="2400" b="1" dirty="0">
                <a:latin typeface="Arial Narrow" panose="020B0606020202030204" pitchFamily="34" charset="0"/>
                <a:ea typeface="Times New Roman"/>
                <a:cs typeface="Times New Roman"/>
                <a:sym typeface="Times New Roman"/>
              </a:rPr>
              <a:t>:</a:t>
            </a:r>
          </a:p>
          <a:p>
            <a:pPr marL="0" lvl="0" indent="0" algn="l" rtl="0">
              <a:lnSpc>
                <a:spcPct val="90000"/>
              </a:lnSpc>
              <a:spcBef>
                <a:spcPts val="1000"/>
              </a:spcBef>
              <a:spcAft>
                <a:spcPts val="0"/>
              </a:spcAft>
              <a:buClr>
                <a:schemeClr val="dk1"/>
              </a:buClr>
              <a:buSzPts val="2400"/>
              <a:buNone/>
            </a:pPr>
            <a:r>
              <a:rPr lang="en-US" sz="2000" dirty="0">
                <a:latin typeface="Times New Roman" panose="02020603050405020304" pitchFamily="18" charset="0"/>
                <a:ea typeface="Times New Roman"/>
                <a:cs typeface="Times New Roman" panose="02020603050405020304" pitchFamily="18" charset="0"/>
                <a:sym typeface="Times New Roman"/>
              </a:rPr>
              <a:t>ABINESH R (811722104005)</a:t>
            </a:r>
          </a:p>
          <a:p>
            <a:pPr marL="0" lvl="0" indent="0">
              <a:buSzPts val="2400"/>
              <a:buNone/>
            </a:pPr>
            <a:r>
              <a:rPr lang="en-US" sz="2000" dirty="0">
                <a:latin typeface="Times New Roman" panose="02020603050405020304" pitchFamily="18" charset="0"/>
                <a:ea typeface="Times New Roman"/>
                <a:cs typeface="Times New Roman" panose="02020603050405020304" pitchFamily="18" charset="0"/>
                <a:sym typeface="Times New Roman"/>
              </a:rPr>
              <a:t>ANBAZHAGAN P (811722104011)</a:t>
            </a:r>
          </a:p>
          <a:p>
            <a:pPr marL="0" lvl="0" indent="0">
              <a:buSzPts val="2400"/>
              <a:buNone/>
            </a:pPr>
            <a:r>
              <a:rPr lang="en-US" sz="2000" dirty="0">
                <a:latin typeface="Times New Roman" panose="02020603050405020304" pitchFamily="18" charset="0"/>
                <a:ea typeface="Times New Roman"/>
                <a:cs typeface="Times New Roman" panose="02020603050405020304" pitchFamily="18" charset="0"/>
                <a:sym typeface="Times New Roman"/>
              </a:rPr>
              <a:t>HARIBHARATHI R (811722104047)</a:t>
            </a:r>
          </a:p>
          <a:p>
            <a:pPr marL="0" lvl="0" indent="0" algn="l" rtl="0">
              <a:lnSpc>
                <a:spcPct val="90000"/>
              </a:lnSpc>
              <a:spcBef>
                <a:spcPts val="1000"/>
              </a:spcBef>
              <a:spcAft>
                <a:spcPts val="0"/>
              </a:spcAft>
              <a:buClr>
                <a:schemeClr val="dk1"/>
              </a:buClr>
              <a:buSzPts val="2400"/>
              <a:buNone/>
            </a:pPr>
            <a:r>
              <a:rPr lang="en-US" sz="2000" dirty="0">
                <a:latin typeface="Times New Roman" panose="02020603050405020304" pitchFamily="18" charset="0"/>
                <a:ea typeface="Times New Roman"/>
                <a:cs typeface="Times New Roman" panose="02020603050405020304" pitchFamily="18" charset="0"/>
                <a:sym typeface="Times New Roman"/>
              </a:rPr>
              <a:t>INFANTALAN L (811722104057)</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406400" y="462116"/>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OBJECTIVE OF THE PROJECT</a:t>
            </a:r>
            <a:endParaRPr dirty="0">
              <a:latin typeface="Arial Narrow"/>
              <a:ea typeface="Arial Narrow"/>
              <a:cs typeface="Arial Narrow"/>
              <a:sym typeface="Arial Narrow"/>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3</a:t>
            </a:fld>
            <a:endParaRPr b="1">
              <a:solidFill>
                <a:schemeClr val="dk1"/>
              </a:solidFill>
            </a:endParaRPr>
          </a:p>
        </p:txBody>
      </p:sp>
      <p:sp>
        <p:nvSpPr>
          <p:cNvPr id="17" name="TextBox 16">
            <a:extLst>
              <a:ext uri="{FF2B5EF4-FFF2-40B4-BE49-F238E27FC236}">
                <a16:creationId xmlns:a16="http://schemas.microsoft.com/office/drawing/2014/main" id="{4080BF97-857C-1954-F4CF-6FC6659FC606}"/>
              </a:ext>
            </a:extLst>
          </p:cNvPr>
          <p:cNvSpPr txBox="1"/>
          <p:nvPr/>
        </p:nvSpPr>
        <p:spPr>
          <a:xfrm>
            <a:off x="4011561" y="1573161"/>
            <a:ext cx="3475917" cy="2654282"/>
          </a:xfrm>
          <a:prstGeom prst="rect">
            <a:avLst/>
          </a:prstGeom>
          <a:noFill/>
        </p:spPr>
        <p:txBody>
          <a:bodyPr wrap="square" rtlCol="0">
            <a:spAutoFit/>
          </a:bodyPr>
          <a:lstStyle/>
          <a:p>
            <a:endParaRPr lang="en-IN" dirty="0"/>
          </a:p>
        </p:txBody>
      </p:sp>
      <p:sp>
        <p:nvSpPr>
          <p:cNvPr id="28" name="Rectangle 24">
            <a:extLst>
              <a:ext uri="{FF2B5EF4-FFF2-40B4-BE49-F238E27FC236}">
                <a16:creationId xmlns:a16="http://schemas.microsoft.com/office/drawing/2014/main" id="{1615FC08-AB47-55E7-4FDF-57646C756FD8}"/>
              </a:ext>
            </a:extLst>
          </p:cNvPr>
          <p:cNvSpPr>
            <a:spLocks noGrp="1" noChangeArrowheads="1"/>
          </p:cNvSpPr>
          <p:nvPr>
            <p:ph type="body" idx="1"/>
          </p:nvPr>
        </p:nvSpPr>
        <p:spPr bwMode="auto">
          <a:xfrm>
            <a:off x="838200" y="1352323"/>
            <a:ext cx="100838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users to submit petitions digitally with support for text, PDF, and image uploads for flexible and convenient reporting of public issues.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automatically analyze uploaded content (text, PDF, or image) using AI techniques such as NLP and Image Captioning to extract sentiment, urgency, and priority.</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accurately detect and prevent repeated petitions through duplicate identification based on text and image similarity, improving system efficiency.</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an organized workflow where admins can manage petitions, update status to ‘Solved’, and ensure solved petitions are removed from the active display.</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enhance transparency and decision-making with a clean dashboard that visualizes petition trends, solved vs unsolved counts, and priority-based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0" y="0"/>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INTRODUCTION</a:t>
            </a:r>
            <a:endParaRPr dirty="0">
              <a:latin typeface="Arial Narrow"/>
              <a:ea typeface="Arial Narrow"/>
              <a:cs typeface="Arial Narrow"/>
              <a:sym typeface="Arial Narrow"/>
            </a:endParaRPr>
          </a:p>
        </p:txBody>
      </p:sp>
      <p:sp>
        <p:nvSpPr>
          <p:cNvPr id="112" name="Google Shape;112;p4"/>
          <p:cNvSpPr txBox="1">
            <a:spLocks noGrp="1"/>
          </p:cNvSpPr>
          <p:nvPr>
            <p:ph type="body" idx="1"/>
          </p:nvPr>
        </p:nvSpPr>
        <p:spPr>
          <a:xfrm>
            <a:off x="1102360" y="1407506"/>
            <a:ext cx="10515600" cy="4351338"/>
          </a:xfrm>
          <a:prstGeom prst="rect">
            <a:avLst/>
          </a:prstGeom>
          <a:noFill/>
          <a:ln>
            <a:noFill/>
          </a:ln>
        </p:spPr>
        <p:txBody>
          <a:bodyPr spcFirstLastPara="1" wrap="square" lIns="91425" tIns="45700" rIns="91425" bIns="45700" anchor="t" anchorCtr="0">
            <a:normAutofit/>
          </a:bodyPr>
          <a:lstStyle/>
          <a:p>
            <a:pPr marL="0" lvl="0" indent="0" algn="just">
              <a:lnSpc>
                <a:spcPct val="150000"/>
              </a:lnSpc>
              <a:spcBef>
                <a:spcPts val="0"/>
              </a:spcBef>
              <a:buSzPts val="2800"/>
              <a:buNone/>
            </a:pPr>
            <a:r>
              <a:rPr lang="en-US" sz="2000" dirty="0">
                <a:latin typeface="Times New Roman" panose="02020603050405020304" pitchFamily="18" charset="0"/>
                <a:cs typeface="Times New Roman" panose="02020603050405020304" pitchFamily="18" charset="0"/>
              </a:rPr>
              <a:t>The Petition Analysis System is an AI-powered digital platform designed to help citizens submit public issues online and track their status transparently. Traditional petition handling is slow, manual, and lacks clarity in prioritization and follow-up. This system analyzes uploaded petitions using advanced techniques such as NLP for text and BLIP image captioning for photos. It automatically determines sentiment, urgency, priority, and detects duplicate petitions to improve resolution efficiency. Admins can manage, solve, and monitor petitions through a real-time analytics dashboard. The system enhances communication between the public and authorities, enabling faster and more organized grievance resolution.</a:t>
            </a:r>
            <a:endParaRPr sz="2000" dirty="0">
              <a:latin typeface="Times New Roman" panose="02020603050405020304" pitchFamily="18" charset="0"/>
              <a:cs typeface="Times New Roman" panose="02020603050405020304" pitchFamily="18" charset="0"/>
            </a:endParaRPr>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5</a:t>
            </a:fld>
            <a:endParaRPr b="1">
              <a:solidFill>
                <a:schemeClr val="dk1"/>
              </a:solidFill>
            </a:endParaRPr>
          </a:p>
        </p:txBody>
      </p:sp>
      <p:sp>
        <p:nvSpPr>
          <p:cNvPr id="120" name="Google Shape;120;p5"/>
          <p:cNvSpPr/>
          <p:nvPr/>
        </p:nvSpPr>
        <p:spPr>
          <a:xfrm>
            <a:off x="68855" y="0"/>
            <a:ext cx="120543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chemeClr val="dk1"/>
                </a:solidFill>
                <a:latin typeface="Arial Narrow"/>
                <a:ea typeface="Arial Narrow"/>
                <a:cs typeface="Arial Narrow"/>
                <a:sym typeface="Arial Narrow"/>
              </a:rPr>
              <a:t>LITERATURE SURVEY</a:t>
            </a:r>
            <a:endParaRPr dirty="0">
              <a:latin typeface="Arial Narrow"/>
              <a:ea typeface="Arial Narrow"/>
              <a:cs typeface="Arial Narrow"/>
              <a:sym typeface="Arial Narrow"/>
            </a:endParaRPr>
          </a:p>
        </p:txBody>
      </p:sp>
      <p:graphicFrame>
        <p:nvGraphicFramePr>
          <p:cNvPr id="121" name="Google Shape;121;p5"/>
          <p:cNvGraphicFramePr/>
          <p:nvPr>
            <p:extLst>
              <p:ext uri="{D42A27DB-BD31-4B8C-83A1-F6EECF244321}">
                <p14:modId xmlns:p14="http://schemas.microsoft.com/office/powerpoint/2010/main" val="4216821445"/>
              </p:ext>
            </p:extLst>
          </p:nvPr>
        </p:nvGraphicFramePr>
        <p:xfrm>
          <a:off x="0" y="708000"/>
          <a:ext cx="12192001" cy="6301657"/>
        </p:xfrm>
        <a:graphic>
          <a:graphicData uri="http://schemas.openxmlformats.org/drawingml/2006/table">
            <a:tbl>
              <a:tblPr firstRow="1" bandRow="1">
                <a:noFill/>
                <a:tableStyleId>{3CDD818E-ADFA-4579-856F-A3140DA02BD1}</a:tableStyleId>
              </a:tblPr>
              <a:tblGrid>
                <a:gridCol w="3027179">
                  <a:extLst>
                    <a:ext uri="{9D8B030D-6E8A-4147-A177-3AD203B41FA5}">
                      <a16:colId xmlns:a16="http://schemas.microsoft.com/office/drawing/2014/main" val="20000"/>
                    </a:ext>
                  </a:extLst>
                </a:gridCol>
                <a:gridCol w="3027179">
                  <a:extLst>
                    <a:ext uri="{9D8B030D-6E8A-4147-A177-3AD203B41FA5}">
                      <a16:colId xmlns:a16="http://schemas.microsoft.com/office/drawing/2014/main" val="20001"/>
                    </a:ext>
                  </a:extLst>
                </a:gridCol>
                <a:gridCol w="3027179">
                  <a:extLst>
                    <a:ext uri="{9D8B030D-6E8A-4147-A177-3AD203B41FA5}">
                      <a16:colId xmlns:a16="http://schemas.microsoft.com/office/drawing/2014/main" val="20002"/>
                    </a:ext>
                  </a:extLst>
                </a:gridCol>
                <a:gridCol w="3110464">
                  <a:extLst>
                    <a:ext uri="{9D8B030D-6E8A-4147-A177-3AD203B41FA5}">
                      <a16:colId xmlns:a16="http://schemas.microsoft.com/office/drawing/2014/main" val="20003"/>
                    </a:ext>
                  </a:extLst>
                </a:gridCol>
              </a:tblGrid>
              <a:tr h="540937">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TITLE OF PAPER</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dirty="0">
                          <a:solidFill>
                            <a:schemeClr val="dk1"/>
                          </a:solidFill>
                          <a:latin typeface="Arial Narrow"/>
                          <a:ea typeface="Arial Narrow"/>
                          <a:cs typeface="Arial Narrow"/>
                          <a:sym typeface="Arial Narrow"/>
                        </a:rPr>
                        <a:t>AUTHOR(S)</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PAPER GIST</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TECHNOLOGY USED</a:t>
                      </a:r>
                      <a:endParaRPr sz="2400" u="none" strike="noStrike" cap="none" dirty="0">
                        <a:solidFill>
                          <a:schemeClr val="dk1"/>
                        </a:solidFill>
                        <a:latin typeface="Arial Narrow"/>
                        <a:ea typeface="Arial Narrow"/>
                        <a:cs typeface="Arial Narrow"/>
                        <a:sym typeface="Arial Narrow"/>
                      </a:endParaRPr>
                    </a:p>
                  </a:txBody>
                  <a:tcPr marL="91450" marR="91450" marT="45725" marB="45725"/>
                </a:tc>
                <a:extLst>
                  <a:ext uri="{0D108BD9-81ED-4DB2-BD59-A6C34878D82A}">
                    <a16:rowId xmlns:a16="http://schemas.microsoft.com/office/drawing/2014/main" val="10000"/>
                  </a:ext>
                </a:extLst>
              </a:tr>
              <a:tr h="697000">
                <a:tc>
                  <a:txBody>
                    <a:bodyPr/>
                    <a:lstStyle/>
                    <a:p>
                      <a:pPr>
                        <a:buNone/>
                      </a:pPr>
                      <a:r>
                        <a:rPr lang="en-US" sz="2000" b="1" dirty="0">
                          <a:latin typeface="Times New Roman" panose="02020603050405020304" pitchFamily="18" charset="0"/>
                          <a:cs typeface="Times New Roman" panose="02020603050405020304" pitchFamily="18" charset="0"/>
                        </a:rPr>
                        <a:t>AI-Based Grievance Redressal Using NLP</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Dr. R. Kumar &amp; Team</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Focuses on classifying citizen complaints using sentiment analysis. However, the system only works on text and cannot process PDF or image inputs.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 Sentiment Analysis, SVM</a:t>
                      </a:r>
                    </a:p>
                  </a:txBody>
                  <a:tcPr anchor="ctr"/>
                </a:tc>
                <a:extLst>
                  <a:ext uri="{0D108BD9-81ED-4DB2-BD59-A6C34878D82A}">
                    <a16:rowId xmlns:a16="http://schemas.microsoft.com/office/drawing/2014/main" val="10002"/>
                  </a:ext>
                </a:extLst>
              </a:tr>
              <a:tr h="697000">
                <a:tc>
                  <a:txBody>
                    <a:bodyPr/>
                    <a:lstStyle/>
                    <a:p>
                      <a:pPr>
                        <a:buNone/>
                      </a:pPr>
                      <a:r>
                        <a:rPr lang="en-US" sz="2000" b="1">
                          <a:latin typeface="Times New Roman" panose="02020603050405020304" pitchFamily="18" charset="0"/>
                          <a:cs typeface="Times New Roman" panose="02020603050405020304" pitchFamily="18" charset="0"/>
                        </a:rPr>
                        <a:t>Automated Priority Prediction of Public Complaints</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S. Banerjee &amp; A. Iqbal</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Predicts priority levels for complaints, but lacks support for urgency detection and duplicate identification.</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Machine Learning (Random Forest), Text Mining</a:t>
                      </a:r>
                    </a:p>
                  </a:txBody>
                  <a:tcPr anchor="ctr"/>
                </a:tc>
                <a:extLst>
                  <a:ext uri="{0D108BD9-81ED-4DB2-BD59-A6C34878D82A}">
                    <a16:rowId xmlns:a16="http://schemas.microsoft.com/office/drawing/2014/main" val="10003"/>
                  </a:ext>
                </a:extLst>
              </a:tr>
              <a:tr h="697000">
                <a:tc>
                  <a:txBody>
                    <a:bodyPr/>
                    <a:lstStyle/>
                    <a:p>
                      <a:pPr>
                        <a:buNone/>
                      </a:pPr>
                      <a:r>
                        <a:rPr lang="en-IN" sz="2000" b="1" dirty="0">
                          <a:latin typeface="Times New Roman" panose="02020603050405020304" pitchFamily="18" charset="0"/>
                          <a:cs typeface="Times New Roman" panose="02020603050405020304" pitchFamily="18" charset="0"/>
                        </a:rPr>
                        <a:t>Image-Driven Public Issue Detection</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M. Shah &amp; Group</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Uses image processing to detect road and drainage issues visually, but does not generate meaningful text descriptions or integrate complaint workflow.</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CNN,  Deep Learning</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29E7D6-FDB4-33E2-2486-171D895F58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graphicFrame>
        <p:nvGraphicFramePr>
          <p:cNvPr id="3" name="Table 2">
            <a:extLst>
              <a:ext uri="{FF2B5EF4-FFF2-40B4-BE49-F238E27FC236}">
                <a16:creationId xmlns:a16="http://schemas.microsoft.com/office/drawing/2014/main" id="{184B0063-19B2-A55D-1D8D-66CADC0A066E}"/>
              </a:ext>
            </a:extLst>
          </p:cNvPr>
          <p:cNvGraphicFramePr>
            <a:graphicFrameLocks noGrp="1"/>
          </p:cNvGraphicFramePr>
          <p:nvPr>
            <p:extLst>
              <p:ext uri="{D42A27DB-BD31-4B8C-83A1-F6EECF244321}">
                <p14:modId xmlns:p14="http://schemas.microsoft.com/office/powerpoint/2010/main" val="2057067883"/>
              </p:ext>
            </p:extLst>
          </p:nvPr>
        </p:nvGraphicFramePr>
        <p:xfrm>
          <a:off x="151436" y="1077516"/>
          <a:ext cx="11889128" cy="4381417"/>
        </p:xfrm>
        <a:graphic>
          <a:graphicData uri="http://schemas.openxmlformats.org/drawingml/2006/table">
            <a:tbl>
              <a:tblPr firstRow="1" bandRow="1">
                <a:noFill/>
                <a:tableStyleId>{3CDD818E-ADFA-4579-856F-A3140DA02BD1}</a:tableStyleId>
              </a:tblPr>
              <a:tblGrid>
                <a:gridCol w="2951978">
                  <a:extLst>
                    <a:ext uri="{9D8B030D-6E8A-4147-A177-3AD203B41FA5}">
                      <a16:colId xmlns:a16="http://schemas.microsoft.com/office/drawing/2014/main" val="3210787326"/>
                    </a:ext>
                  </a:extLst>
                </a:gridCol>
                <a:gridCol w="2951978">
                  <a:extLst>
                    <a:ext uri="{9D8B030D-6E8A-4147-A177-3AD203B41FA5}">
                      <a16:colId xmlns:a16="http://schemas.microsoft.com/office/drawing/2014/main" val="667339752"/>
                    </a:ext>
                  </a:extLst>
                </a:gridCol>
                <a:gridCol w="2951978">
                  <a:extLst>
                    <a:ext uri="{9D8B030D-6E8A-4147-A177-3AD203B41FA5}">
                      <a16:colId xmlns:a16="http://schemas.microsoft.com/office/drawing/2014/main" val="652058658"/>
                    </a:ext>
                  </a:extLst>
                </a:gridCol>
                <a:gridCol w="3033194">
                  <a:extLst>
                    <a:ext uri="{9D8B030D-6E8A-4147-A177-3AD203B41FA5}">
                      <a16:colId xmlns:a16="http://schemas.microsoft.com/office/drawing/2014/main" val="2608028584"/>
                    </a:ext>
                  </a:extLst>
                </a:gridCol>
              </a:tblGrid>
              <a:tr h="540937">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TITLE OF PAPER</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dirty="0">
                          <a:solidFill>
                            <a:schemeClr val="dk1"/>
                          </a:solidFill>
                          <a:latin typeface="Arial Narrow"/>
                          <a:ea typeface="Arial Narrow"/>
                          <a:cs typeface="Arial Narrow"/>
                          <a:sym typeface="Arial Narrow"/>
                        </a:rPr>
                        <a:t>AUTHOR(S)</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PAPER GIST</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TECHNOLOGY USED</a:t>
                      </a:r>
                      <a:endParaRPr sz="2400" u="none" strike="noStrike" cap="none" dirty="0">
                        <a:solidFill>
                          <a:schemeClr val="dk1"/>
                        </a:solidFill>
                        <a:latin typeface="Arial Narrow"/>
                        <a:ea typeface="Arial Narrow"/>
                        <a:cs typeface="Arial Narrow"/>
                        <a:sym typeface="Arial Narrow"/>
                      </a:endParaRPr>
                    </a:p>
                  </a:txBody>
                  <a:tcPr marL="91450" marR="91450" marT="45725" marB="45725"/>
                </a:tc>
                <a:extLst>
                  <a:ext uri="{0D108BD9-81ED-4DB2-BD59-A6C34878D82A}">
                    <a16:rowId xmlns:a16="http://schemas.microsoft.com/office/drawing/2014/main" val="2097953815"/>
                  </a:ext>
                </a:extLst>
              </a:tr>
              <a:tr h="697000">
                <a:tc>
                  <a:txBody>
                    <a:bodyPr/>
                    <a:lstStyle/>
                    <a:p>
                      <a:pPr>
                        <a:buNone/>
                      </a:pPr>
                      <a:r>
                        <a:rPr lang="en-IN" sz="2000" b="1" dirty="0">
                          <a:latin typeface="Times New Roman" panose="02020603050405020304" pitchFamily="18" charset="0"/>
                          <a:cs typeface="Times New Roman" panose="02020603050405020304" pitchFamily="18" charset="0"/>
                        </a:rPr>
                        <a:t>Smart Online Complaint Management System</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P. Singh &amp; K. Mehta</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Provides online complaint submission and admin monitoring, but solved issues remain mixed with active issues and no duplicate checking system.</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Web Technologies, MySQL, Basic Dashboard</a:t>
                      </a:r>
                    </a:p>
                  </a:txBody>
                  <a:tcPr anchor="ctr"/>
                </a:tc>
                <a:extLst>
                  <a:ext uri="{0D108BD9-81ED-4DB2-BD59-A6C34878D82A}">
                    <a16:rowId xmlns:a16="http://schemas.microsoft.com/office/drawing/2014/main" val="4109671920"/>
                  </a:ext>
                </a:extLst>
              </a:tr>
              <a:tr h="697000">
                <a:tc>
                  <a:txBody>
                    <a:bodyPr/>
                    <a:lstStyle/>
                    <a:p>
                      <a:pPr>
                        <a:buNone/>
                      </a:pPr>
                      <a:r>
                        <a:rPr lang="en-US" sz="2000" b="1" dirty="0">
                          <a:latin typeface="Times New Roman" panose="02020603050405020304" pitchFamily="18" charset="0"/>
                          <a:cs typeface="Times New Roman" panose="02020603050405020304" pitchFamily="18" charset="0"/>
                        </a:rPr>
                        <a:t>Deep Learning-Based Public Feedback Categorization System</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R. Patel &amp; S. Verma</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Categorizes feedback using deep learning models, but does not support file uploads (PDF/Image) and lacks dashboard analytics.</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Deep Learning, LSTM,</a:t>
                      </a:r>
                    </a:p>
                  </a:txBody>
                  <a:tcPr anchor="ctr"/>
                </a:tc>
                <a:extLst>
                  <a:ext uri="{0D108BD9-81ED-4DB2-BD59-A6C34878D82A}">
                    <a16:rowId xmlns:a16="http://schemas.microsoft.com/office/drawing/2014/main" val="2621768648"/>
                  </a:ext>
                </a:extLst>
              </a:tr>
            </a:tbl>
          </a:graphicData>
        </a:graphic>
      </p:graphicFrame>
      <p:sp>
        <p:nvSpPr>
          <p:cNvPr id="5" name="TextBox 4">
            <a:extLst>
              <a:ext uri="{FF2B5EF4-FFF2-40B4-BE49-F238E27FC236}">
                <a16:creationId xmlns:a16="http://schemas.microsoft.com/office/drawing/2014/main" id="{7C9E2FF2-0CF4-F514-3646-6811C19B3724}"/>
              </a:ext>
            </a:extLst>
          </p:cNvPr>
          <p:cNvSpPr txBox="1"/>
          <p:nvPr/>
        </p:nvSpPr>
        <p:spPr>
          <a:xfrm>
            <a:off x="2651760" y="288072"/>
            <a:ext cx="6096000" cy="707886"/>
          </a:xfrm>
          <a:prstGeom prst="rect">
            <a:avLst/>
          </a:prstGeom>
          <a:noFill/>
        </p:spPr>
        <p:txBody>
          <a:bodyPr wrap="square">
            <a:spAutoFit/>
          </a:bodyPr>
          <a:lstStyle/>
          <a:p>
            <a:pPr marL="0" marR="0" lvl="0" indent="0" algn="ctr" rtl="0">
              <a:spcBef>
                <a:spcPts val="0"/>
              </a:spcBef>
              <a:spcAft>
                <a:spcPts val="0"/>
              </a:spcAft>
              <a:buNone/>
            </a:pPr>
            <a:r>
              <a:rPr lang="en-US" sz="4000" b="1" dirty="0">
                <a:solidFill>
                  <a:schemeClr val="dk1"/>
                </a:solidFill>
                <a:latin typeface="Arial Narrow"/>
                <a:ea typeface="Arial Narrow"/>
                <a:cs typeface="Arial Narrow"/>
                <a:sym typeface="Arial Narrow"/>
              </a:rPr>
              <a:t>LITERATURE SURVEY</a:t>
            </a:r>
            <a:endParaRPr lang="en-US" sz="4000" dirty="0">
              <a:latin typeface="Arial Narrow"/>
              <a:ea typeface="Arial Narrow"/>
              <a:cs typeface="Arial Narrow"/>
              <a:sym typeface="Arial Narrow"/>
            </a:endParaRPr>
          </a:p>
        </p:txBody>
      </p:sp>
    </p:spTree>
    <p:extLst>
      <p:ext uri="{BB962C8B-B14F-4D97-AF65-F5344CB8AC3E}">
        <p14:creationId xmlns:p14="http://schemas.microsoft.com/office/powerpoint/2010/main" val="3199262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7</a:t>
            </a:fld>
            <a:endParaRPr b="1">
              <a:solidFill>
                <a:schemeClr val="dk1"/>
              </a:solidFill>
            </a:endParaRPr>
          </a:p>
        </p:txBody>
      </p:sp>
      <p:sp>
        <p:nvSpPr>
          <p:cNvPr id="127"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EXISTING SYSTEM </a:t>
            </a:r>
            <a:r>
              <a:rPr lang="en-US" dirty="0"/>
              <a:t>ARCHITECTURE</a:t>
            </a:r>
            <a:endParaRPr dirty="0">
              <a:sym typeface="Arial Narrow"/>
            </a:endParaRPr>
          </a:p>
        </p:txBody>
      </p:sp>
      <p:pic>
        <p:nvPicPr>
          <p:cNvPr id="3" name="Picture 2">
            <a:extLst>
              <a:ext uri="{FF2B5EF4-FFF2-40B4-BE49-F238E27FC236}">
                <a16:creationId xmlns:a16="http://schemas.microsoft.com/office/drawing/2014/main" id="{B684E937-D1B8-E992-FDE1-025A227B6AC3}"/>
              </a:ext>
            </a:extLst>
          </p:cNvPr>
          <p:cNvPicPr>
            <a:picLocks noChangeAspect="1"/>
          </p:cNvPicPr>
          <p:nvPr/>
        </p:nvPicPr>
        <p:blipFill>
          <a:blip r:embed="rId3"/>
          <a:stretch>
            <a:fillRect/>
          </a:stretch>
        </p:blipFill>
        <p:spPr>
          <a:xfrm>
            <a:off x="3119022" y="773921"/>
            <a:ext cx="5953956" cy="55824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FEFE7C5-B014-B248-A280-1360BE6D6E0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8DDF3340-775D-1206-5F9C-2A604B9E05F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8</a:t>
            </a:fld>
            <a:endParaRPr b="1">
              <a:solidFill>
                <a:schemeClr val="dk1"/>
              </a:solidFill>
            </a:endParaRPr>
          </a:p>
        </p:txBody>
      </p:sp>
      <p:sp>
        <p:nvSpPr>
          <p:cNvPr id="127" name="Google Shape;127;p6">
            <a:extLst>
              <a:ext uri="{FF2B5EF4-FFF2-40B4-BE49-F238E27FC236}">
                <a16:creationId xmlns:a16="http://schemas.microsoft.com/office/drawing/2014/main" id="{1F26A455-1F7F-0E24-548B-1E2404FC73D5}"/>
              </a:ext>
            </a:extLst>
          </p:cNvPr>
          <p:cNvSpPr txBox="1"/>
          <p:nvPr/>
        </p:nvSpPr>
        <p:spPr>
          <a:xfrm>
            <a:off x="-153600"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PROBLEM IDENTIFICAITON</a:t>
            </a:r>
            <a:endParaRPr dirty="0">
              <a:sym typeface="Arial Narrow"/>
            </a:endParaRPr>
          </a:p>
        </p:txBody>
      </p:sp>
      <p:sp>
        <p:nvSpPr>
          <p:cNvPr id="6" name="TextBox 5">
            <a:extLst>
              <a:ext uri="{FF2B5EF4-FFF2-40B4-BE49-F238E27FC236}">
                <a16:creationId xmlns:a16="http://schemas.microsoft.com/office/drawing/2014/main" id="{08CE4EEB-959B-594F-24FE-FD31BED57246}"/>
              </a:ext>
            </a:extLst>
          </p:cNvPr>
          <p:cNvSpPr txBox="1"/>
          <p:nvPr/>
        </p:nvSpPr>
        <p:spPr>
          <a:xfrm>
            <a:off x="990000" y="961936"/>
            <a:ext cx="10277768" cy="5576976"/>
          </a:xfrm>
          <a:prstGeom prst="rect">
            <a:avLst/>
          </a:prstGeom>
          <a:noFill/>
        </p:spPr>
        <p:txBody>
          <a:bodyPr wrap="square" rtlCol="0">
            <a:spAutoFit/>
          </a:bodyPr>
          <a:lstStyle/>
          <a:p>
            <a:pPr lvl="0" algn="just" eaLnBrk="0" fontAlgn="base" hangingPunct="0">
              <a:lnSpc>
                <a:spcPct val="150000"/>
              </a:lnSpc>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 Existing petition systems only support basic text-based submission and lack image-based captioning,    making it difficult to understand visually reported issues without manual review.</a:t>
            </a:r>
          </a:p>
          <a:p>
            <a:pPr lvl="0" algn="just" eaLnBrk="0" fontAlgn="base" hangingPunct="0">
              <a:lnSpc>
                <a:spcPct val="150000"/>
              </a:lnSpc>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 There is no mechanism for duplicate petition detection, which results in repeated submissions of the same issue and increases processing time and workload.</a:t>
            </a:r>
          </a:p>
          <a:p>
            <a:pPr lvl="0" algn="just" eaLnBrk="0" fontAlgn="base" hangingPunct="0">
              <a:lnSpc>
                <a:spcPct val="150000"/>
              </a:lnSpc>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 Absence of a real-time analytics dashboard prevents authorities from tracking trends, prioritizing critical issues, and analyzing petition performance effectively.</a:t>
            </a:r>
          </a:p>
          <a:p>
            <a:pPr lvl="0" algn="just" eaLnBrk="0" fontAlgn="base" hangingPunct="0">
              <a:lnSpc>
                <a:spcPct val="150000"/>
              </a:lnSpc>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 No social interaction features such as likes and comments limit user engagement and public support for high-impact petitions.</a:t>
            </a:r>
          </a:p>
          <a:p>
            <a:pPr lvl="0" algn="just" eaLnBrk="0" fontAlgn="base" hangingPunct="0">
              <a:lnSpc>
                <a:spcPct val="150000"/>
              </a:lnSpc>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 Current systems provide only basic classification without urgency rating, keyword extraction, or admin solving workflow—leading to poor issue prioritization and lack of visibility between solved and unsolved petitions.</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861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9</a:t>
            </a:fld>
            <a:endParaRPr b="1">
              <a:solidFill>
                <a:schemeClr val="dk1"/>
              </a:solidFill>
            </a:endParaRPr>
          </a:p>
        </p:txBody>
      </p:sp>
      <p:sp>
        <p:nvSpPr>
          <p:cNvPr id="133" name="Google Shape;133;p7"/>
          <p:cNvSpPr txBox="1"/>
          <p:nvPr/>
        </p:nvSpPr>
        <p:spPr>
          <a:xfrm>
            <a:off x="-1" y="0"/>
            <a:ext cx="12192000" cy="708000"/>
          </a:xfrm>
          <a:prstGeom prst="rect">
            <a:avLst/>
          </a:prstGeom>
          <a:noFill/>
          <a:ln>
            <a:noFill/>
          </a:ln>
        </p:spPr>
        <p:txBody>
          <a:bodyPr spcFirstLastPara="1" wrap="square" lIns="91425" tIns="45700" rIns="91425" bIns="45700" anchor="t" anchorCtr="0">
            <a:spAutoFit/>
          </a:bodyPr>
          <a:lstStyle/>
          <a:p>
            <a:pPr lvl="0" algn="ctr"/>
            <a:r>
              <a:rPr lang="en-US" sz="4000" b="1" dirty="0">
                <a:solidFill>
                  <a:schemeClr val="dk1"/>
                </a:solidFill>
                <a:latin typeface="Arial Narrow"/>
                <a:ea typeface="Arial Narrow"/>
                <a:cs typeface="Arial Narrow"/>
                <a:sym typeface="Arial Narrow"/>
              </a:rPr>
              <a:t>PROPOSED SYSTEM </a:t>
            </a:r>
            <a:r>
              <a:rPr lang="en-US" sz="4000" b="1" dirty="0">
                <a:solidFill>
                  <a:schemeClr val="dk1"/>
                </a:solidFill>
                <a:latin typeface="Arial Narrow"/>
              </a:rPr>
              <a:t>ARCHITECTURE</a:t>
            </a:r>
            <a:endParaRPr sz="4000" b="1" dirty="0">
              <a:solidFill>
                <a:schemeClr val="dk1"/>
              </a:solidFill>
              <a:latin typeface="Arial Narrow"/>
              <a:sym typeface="Arial Narrow"/>
            </a:endParaRPr>
          </a:p>
        </p:txBody>
      </p:sp>
      <p:pic>
        <p:nvPicPr>
          <p:cNvPr id="8" name="Picture 7">
            <a:extLst>
              <a:ext uri="{FF2B5EF4-FFF2-40B4-BE49-F238E27FC236}">
                <a16:creationId xmlns:a16="http://schemas.microsoft.com/office/drawing/2014/main" id="{7B6E4F1E-F734-722F-4B23-139BDC722A8B}"/>
              </a:ext>
            </a:extLst>
          </p:cNvPr>
          <p:cNvPicPr>
            <a:picLocks noChangeAspect="1"/>
          </p:cNvPicPr>
          <p:nvPr/>
        </p:nvPicPr>
        <p:blipFill>
          <a:blip r:embed="rId3"/>
          <a:stretch>
            <a:fillRect/>
          </a:stretch>
        </p:blipFill>
        <p:spPr>
          <a:xfrm>
            <a:off x="330383" y="597310"/>
            <a:ext cx="11252018" cy="56633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146000" y="624600"/>
            <a:ext cx="9900000" cy="720000"/>
          </a:xfrm>
          <a:prstGeom prst="rect">
            <a:avLst/>
          </a:prstGeom>
          <a:noFill/>
          <a:ln w="0">
            <a:noFill/>
          </a:ln>
        </p:spPr>
        <p:txBody>
          <a:bodyPr lIns="91440" tIns="45720" rIns="91440" bIns="45720" anchor="ctr">
            <a:normAutofit fontScale="90000"/>
          </a:bodyPr>
          <a:lstStyle/>
          <a:p>
            <a:pPr indent="0" algn="ctr">
              <a:lnSpc>
                <a:spcPct val="90000"/>
              </a:lnSpc>
              <a:buNone/>
              <a:tabLst>
                <a:tab pos="0" algn="l"/>
              </a:tabLst>
            </a:pPr>
            <a:r>
              <a:rPr lang="en-US" sz="4400" b="1" strike="noStrike" spc="-1" dirty="0">
                <a:solidFill>
                  <a:schemeClr val="dk1"/>
                </a:solidFill>
                <a:latin typeface="times new roman"/>
                <a:ea typeface="Arial Narrow"/>
              </a:rPr>
              <a:t>SOFTWARE AND HARDWARE REQUIREMENTS </a:t>
            </a:r>
            <a:endParaRPr lang="en-IN" sz="4400" b="0" strike="noStrike" spc="-1" dirty="0">
              <a:solidFill>
                <a:srgbClr val="000000"/>
              </a:solidFill>
              <a:latin typeface="times new roman"/>
            </a:endParaRPr>
          </a:p>
        </p:txBody>
      </p:sp>
      <p:sp>
        <p:nvSpPr>
          <p:cNvPr id="95" name="PlaceHolder 2"/>
          <p:cNvSpPr>
            <a:spLocks noGrp="1"/>
          </p:cNvSpPr>
          <p:nvPr>
            <p:ph/>
          </p:nvPr>
        </p:nvSpPr>
        <p:spPr>
          <a:xfrm>
            <a:off x="266040" y="2671920"/>
            <a:ext cx="5313960" cy="3684240"/>
          </a:xfrm>
          <a:prstGeom prst="rect">
            <a:avLst/>
          </a:prstGeom>
          <a:noFill/>
          <a:ln w="0">
            <a:noFill/>
          </a:ln>
        </p:spPr>
        <p:txBody>
          <a:bodyPr lIns="91440" tIns="45720" rIns="91440" bIns="45720" anchor="t">
            <a:normAutofit/>
          </a:bodyPr>
          <a:lstStyle/>
          <a:p>
            <a:pPr indent="0" algn="ctr">
              <a:lnSpc>
                <a:spcPct val="90000"/>
              </a:lnSpc>
              <a:buNone/>
              <a:tabLst>
                <a:tab pos="0" algn="l"/>
              </a:tabLst>
            </a:pPr>
            <a:r>
              <a:rPr lang="en-US" sz="2800" b="1" strike="noStrike" spc="-1">
                <a:solidFill>
                  <a:schemeClr val="dk1"/>
                </a:solidFill>
                <a:latin typeface="times new roman"/>
                <a:ea typeface="Arial Narrow"/>
              </a:rPr>
              <a:t>HARDWARE</a:t>
            </a:r>
            <a:endParaRPr lang="en-IN" sz="2800" b="0" strike="noStrike" spc="-1">
              <a:solidFill>
                <a:srgbClr val="000000"/>
              </a:solidFill>
              <a:latin typeface="Arial"/>
            </a:endParaRPr>
          </a:p>
          <a:p>
            <a:pPr indent="0">
              <a:lnSpc>
                <a:spcPct val="90000"/>
              </a:lnSpc>
              <a:buNone/>
              <a:tabLst>
                <a:tab pos="0" algn="l"/>
              </a:tabLst>
            </a:pPr>
            <a:endParaRPr lang="en-IN" sz="2800" b="0" strike="noStrike" spc="-1">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a:solidFill>
                  <a:schemeClr val="dk1"/>
                </a:solidFill>
                <a:latin typeface="times new roman"/>
                <a:ea typeface="Calibri"/>
              </a:rPr>
              <a:t>System   : PC or Laptop </a:t>
            </a:r>
            <a:endParaRPr lang="en-IN" sz="2800" b="0" strike="noStrike" spc="-1">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a:solidFill>
                  <a:schemeClr val="dk1"/>
                </a:solidFill>
                <a:latin typeface="times new roman"/>
                <a:ea typeface="Calibri"/>
              </a:rPr>
              <a:t>Processor  : Intel i3/i5/i7 or AMD </a:t>
            </a:r>
            <a:endParaRPr lang="en-IN" sz="2800" b="0" strike="noStrike" spc="-1">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a:solidFill>
                  <a:schemeClr val="dk1"/>
                </a:solidFill>
                <a:latin typeface="times new roman"/>
                <a:ea typeface="Calibri"/>
              </a:rPr>
              <a:t>RAM  : Minimum 4 GB</a:t>
            </a:r>
            <a:endParaRPr lang="en-IN" sz="2800" b="0" strike="noStrike" spc="-1">
              <a:solidFill>
                <a:srgbClr val="000000"/>
              </a:solidFill>
              <a:latin typeface="Arial"/>
            </a:endParaRPr>
          </a:p>
        </p:txBody>
      </p:sp>
      <p:sp>
        <p:nvSpPr>
          <p:cNvPr id="96" name="PlaceHolder 3"/>
          <p:cNvSpPr>
            <a:spLocks noGrp="1"/>
          </p:cNvSpPr>
          <p:nvPr>
            <p:ph/>
          </p:nvPr>
        </p:nvSpPr>
        <p:spPr>
          <a:xfrm>
            <a:off x="6406560" y="2549160"/>
            <a:ext cx="5182920" cy="3684240"/>
          </a:xfrm>
          <a:prstGeom prst="rect">
            <a:avLst/>
          </a:prstGeom>
          <a:noFill/>
          <a:ln w="0">
            <a:noFill/>
          </a:ln>
        </p:spPr>
        <p:txBody>
          <a:bodyPr lIns="91440" tIns="45720" rIns="91440" bIns="45720" anchor="t">
            <a:normAutofit fontScale="97836"/>
          </a:bodyPr>
          <a:lstStyle/>
          <a:p>
            <a:pPr indent="0" algn="ctr">
              <a:lnSpc>
                <a:spcPct val="90000"/>
              </a:lnSpc>
              <a:buNone/>
              <a:tabLst>
                <a:tab pos="0" algn="l"/>
              </a:tabLst>
            </a:pPr>
            <a:r>
              <a:rPr lang="en-US" sz="2800" b="1" strike="noStrike" spc="-1" dirty="0">
                <a:solidFill>
                  <a:schemeClr val="dk1"/>
                </a:solidFill>
                <a:latin typeface="times new roman"/>
                <a:ea typeface="Arial Narrow"/>
              </a:rPr>
              <a:t>SOFTWARE</a:t>
            </a:r>
            <a:endParaRPr lang="en-IN" sz="2800" b="0" strike="noStrike" spc="-1" dirty="0">
              <a:solidFill>
                <a:srgbClr val="000000"/>
              </a:solidFill>
              <a:latin typeface="Arial"/>
            </a:endParaRPr>
          </a:p>
          <a:p>
            <a:pPr indent="0">
              <a:lnSpc>
                <a:spcPct val="90000"/>
              </a:lnSpc>
              <a:buNone/>
              <a:tabLst>
                <a:tab pos="0" algn="l"/>
              </a:tabLst>
            </a:pPr>
            <a:endParaRPr lang="en-IN" sz="2800" b="0" strike="noStrike" spc="-1" dirty="0">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dirty="0">
                <a:solidFill>
                  <a:schemeClr val="dk1"/>
                </a:solidFill>
                <a:latin typeface="times new roman"/>
                <a:ea typeface="Calibri"/>
              </a:rPr>
              <a:t>Windows 10 or 11 </a:t>
            </a:r>
            <a:endParaRPr lang="en-IN" sz="2800" b="0" strike="noStrike" spc="-1" dirty="0">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dirty="0">
                <a:solidFill>
                  <a:schemeClr val="dk1"/>
                </a:solidFill>
                <a:latin typeface="times new roman"/>
                <a:ea typeface="Calibri"/>
              </a:rPr>
              <a:t>HTML, CSS, JavaScript</a:t>
            </a:r>
            <a:endParaRPr lang="en-IN" sz="2800" b="0" strike="noStrike" spc="-1" dirty="0">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dirty="0">
                <a:solidFill>
                  <a:schemeClr val="dk1"/>
                </a:solidFill>
                <a:latin typeface="times new roman"/>
                <a:ea typeface="Calibri"/>
              </a:rPr>
              <a:t>Python </a:t>
            </a:r>
            <a:endParaRPr lang="en-IN" sz="2800" b="0" strike="noStrike" spc="-1" dirty="0">
              <a:solidFill>
                <a:srgbClr val="000000"/>
              </a:solidFill>
              <a:latin typeface="Arial"/>
            </a:endParaRPr>
          </a:p>
          <a:p>
            <a:pPr marL="216000" indent="-216000" algn="just">
              <a:lnSpc>
                <a:spcPct val="150000"/>
              </a:lnSpc>
              <a:buClr>
                <a:srgbClr val="000000"/>
              </a:buClr>
              <a:buSzPct val="45000"/>
              <a:buFont typeface="Wingdings" charset="2"/>
              <a:buChar char=""/>
              <a:tabLst>
                <a:tab pos="0" algn="l"/>
              </a:tabLst>
            </a:pPr>
            <a:r>
              <a:rPr lang="en-IN" sz="2800" b="0" strike="noStrike" spc="-1" dirty="0">
                <a:solidFill>
                  <a:schemeClr val="dk1"/>
                </a:solidFill>
                <a:latin typeface="times new roman"/>
                <a:ea typeface="Calibri"/>
              </a:rPr>
              <a:t>Flask</a:t>
            </a:r>
            <a:endParaRPr lang="en-IN" sz="2800" b="0" strike="noStrike" spc="-1" dirty="0">
              <a:solidFill>
                <a:srgbClr val="000000"/>
              </a:solidFill>
              <a:latin typeface="Arial"/>
            </a:endParaRPr>
          </a:p>
          <a:p>
            <a:pPr indent="0">
              <a:lnSpc>
                <a:spcPct val="90000"/>
              </a:lnSpc>
              <a:buNone/>
              <a:tabLst>
                <a:tab pos="0" algn="l"/>
              </a:tabLst>
            </a:pPr>
            <a:endParaRPr lang="en-IN" sz="2800" b="0" strike="noStrike" spc="-1" dirty="0">
              <a:solidFill>
                <a:srgbClr val="000000"/>
              </a:solidFill>
              <a:latin typeface="Arial"/>
            </a:endParaRPr>
          </a:p>
        </p:txBody>
      </p:sp>
      <p:sp>
        <p:nvSpPr>
          <p:cNvPr id="97" name="PlaceHolder 4"/>
          <p:cNvSpPr>
            <a:spLocks noGrp="1"/>
          </p:cNvSpPr>
          <p:nvPr>
            <p:ph type="sldNum" idx="4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1" strike="noStrike" spc="-1">
                <a:solidFill>
                  <a:schemeClr val="dk1"/>
                </a:solidFill>
                <a:latin typeface="Calibri"/>
                <a:ea typeface="Calibri"/>
              </a:defRPr>
            </a:lvl1pPr>
          </a:lstStyle>
          <a:p>
            <a:pPr indent="0" algn="r">
              <a:lnSpc>
                <a:spcPct val="100000"/>
              </a:lnSpc>
              <a:buNone/>
              <a:tabLst>
                <a:tab pos="0" algn="l"/>
              </a:tabLst>
            </a:pPr>
            <a:fld id="{7B3A4882-F942-4C9D-90DD-A1D4C7922EEF}" type="slidenum">
              <a:rPr lang="en-US" sz="1200" b="1" strike="noStrike" spc="-1">
                <a:solidFill>
                  <a:schemeClr val="dk1"/>
                </a:solidFill>
                <a:latin typeface="Calibri"/>
                <a:ea typeface="Calibri"/>
              </a:rPr>
              <a:t>10</a:t>
            </a:fld>
            <a:endParaRPr lang="en-IN" sz="1200" b="0" strike="noStrike" spc="-1">
              <a:solidFill>
                <a:srgbClr val="000000"/>
              </a:solidFill>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245806" y="560439"/>
            <a:ext cx="12191760" cy="618120"/>
          </a:xfrm>
          <a:prstGeom prst="rect">
            <a:avLst/>
          </a:prstGeom>
          <a:noFill/>
          <a:ln w="0">
            <a:noFill/>
          </a:ln>
        </p:spPr>
        <p:txBody>
          <a:bodyPr lIns="91440" tIns="45720" rIns="91440" bIns="45720" anchor="ctr">
            <a:normAutofit fontScale="90000"/>
          </a:bodyPr>
          <a:lstStyle/>
          <a:p>
            <a:pPr indent="0" algn="ctr">
              <a:lnSpc>
                <a:spcPct val="90000"/>
              </a:lnSpc>
              <a:buNone/>
              <a:tabLst>
                <a:tab pos="0" algn="l"/>
              </a:tabLst>
            </a:pPr>
            <a:r>
              <a:rPr lang="en-US" sz="4400" b="1" strike="noStrike" spc="-1" dirty="0">
                <a:solidFill>
                  <a:schemeClr val="dk1"/>
                </a:solidFill>
                <a:latin typeface="times new roman"/>
                <a:ea typeface="Arial Narrow"/>
              </a:rPr>
              <a:t>MODULES </a:t>
            </a:r>
            <a:endParaRPr lang="en-IN" sz="4400" b="0" strike="noStrike" spc="-1" dirty="0">
              <a:solidFill>
                <a:srgbClr val="000000"/>
              </a:solidFill>
              <a:latin typeface="times new roman"/>
            </a:endParaRPr>
          </a:p>
        </p:txBody>
      </p:sp>
      <p:sp>
        <p:nvSpPr>
          <p:cNvPr id="99" name="PlaceHolder 2"/>
          <p:cNvSpPr>
            <a:spLocks noGrp="1"/>
          </p:cNvSpPr>
          <p:nvPr>
            <p:ph type="sldNum" idx="4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1" strike="noStrike" spc="-1">
                <a:solidFill>
                  <a:schemeClr val="dk1"/>
                </a:solidFill>
                <a:latin typeface="Calibri"/>
                <a:ea typeface="Calibri"/>
              </a:defRPr>
            </a:lvl1pPr>
          </a:lstStyle>
          <a:p>
            <a:pPr indent="0" algn="r">
              <a:lnSpc>
                <a:spcPct val="100000"/>
              </a:lnSpc>
              <a:buNone/>
              <a:tabLst>
                <a:tab pos="0" algn="l"/>
              </a:tabLst>
            </a:pPr>
            <a:fld id="{B4918550-5B98-4707-804D-EF3132A13753}" type="slidenum">
              <a:rPr lang="en-US" sz="1200" b="1" strike="noStrike" spc="-1">
                <a:solidFill>
                  <a:schemeClr val="dk1"/>
                </a:solidFill>
                <a:latin typeface="Calibri"/>
                <a:ea typeface="Calibri"/>
              </a:rPr>
              <a:t>11</a:t>
            </a:fld>
            <a:endParaRPr lang="en-IN" sz="1200" b="0" strike="noStrike" spc="-1">
              <a:solidFill>
                <a:srgbClr val="000000"/>
              </a:solidFill>
              <a:latin typeface="Times New Roman"/>
            </a:endParaRPr>
          </a:p>
        </p:txBody>
      </p:sp>
      <p:sp>
        <p:nvSpPr>
          <p:cNvPr id="100" name="PlaceHolder 3"/>
          <p:cNvSpPr>
            <a:spLocks noGrp="1"/>
          </p:cNvSpPr>
          <p:nvPr>
            <p:ph/>
          </p:nvPr>
        </p:nvSpPr>
        <p:spPr>
          <a:xfrm>
            <a:off x="978658" y="1304009"/>
            <a:ext cx="10800000" cy="4016129"/>
          </a:xfrm>
          <a:prstGeom prst="rect">
            <a:avLst/>
          </a:prstGeom>
          <a:noFill/>
          <a:ln w="0">
            <a:noFill/>
          </a:ln>
        </p:spPr>
        <p:txBody>
          <a:bodyPr lIns="91440" tIns="45720" rIns="91440" bIns="45720" numCol="1" spcCol="0" anchor="ctr">
            <a:noAutofit/>
          </a:bodyPr>
          <a:lstStyle/>
          <a:p>
            <a:pPr algn="just" defTabSz="914400">
              <a:lnSpc>
                <a:spcPct val="150000"/>
              </a:lnSpc>
              <a:buClr>
                <a:srgbClr val="000000"/>
              </a:buClr>
            </a:pPr>
            <a:r>
              <a:rPr lang="en-US" sz="2000" b="1" strike="noStrike" spc="-1" dirty="0">
                <a:solidFill>
                  <a:schemeClr val="dk1"/>
                </a:solidFill>
                <a:latin typeface="times new roman"/>
                <a:ea typeface="Calibri"/>
              </a:rPr>
              <a:t>1.User Module</a:t>
            </a:r>
            <a:r>
              <a:rPr lang="en-US" sz="2000" b="0" strike="noStrike" spc="-1" dirty="0">
                <a:solidFill>
                  <a:schemeClr val="dk1"/>
                </a:solidFill>
                <a:latin typeface="times new roman"/>
                <a:ea typeface="Calibri"/>
              </a:rPr>
              <a:t> – For petition submission, tracking, and feedback by citizens.</a:t>
            </a:r>
            <a:endParaRPr lang="en-IN" sz="2000" b="0" strike="noStrike" spc="-1" dirty="0">
              <a:solidFill>
                <a:srgbClr val="000000"/>
              </a:solidFill>
              <a:latin typeface="times new roman"/>
            </a:endParaRPr>
          </a:p>
          <a:p>
            <a:pPr algn="just" defTabSz="914400">
              <a:lnSpc>
                <a:spcPct val="150000"/>
              </a:lnSpc>
              <a:buClr>
                <a:srgbClr val="000000"/>
              </a:buClr>
            </a:pPr>
            <a:r>
              <a:rPr lang="en-US" sz="2000" b="1" strike="noStrike" spc="-1" dirty="0">
                <a:solidFill>
                  <a:schemeClr val="dk1"/>
                </a:solidFill>
                <a:latin typeface="times new roman"/>
                <a:ea typeface="Calibri"/>
              </a:rPr>
              <a:t>2.Petition Processing Module</a:t>
            </a:r>
            <a:r>
              <a:rPr lang="en-US" sz="2000" b="0" strike="noStrike" spc="-1" dirty="0">
                <a:solidFill>
                  <a:schemeClr val="dk1"/>
                </a:solidFill>
                <a:latin typeface="times new roman"/>
                <a:ea typeface="Calibri"/>
              </a:rPr>
              <a:t> – Handles NLP-based classification, urgency detection, and duplicate checking.</a:t>
            </a:r>
            <a:endParaRPr lang="en-IN" sz="2000" b="0" strike="noStrike" spc="-1" dirty="0">
              <a:solidFill>
                <a:srgbClr val="000000"/>
              </a:solidFill>
              <a:latin typeface="times new roman"/>
            </a:endParaRPr>
          </a:p>
          <a:p>
            <a:pPr algn="just" defTabSz="914400">
              <a:lnSpc>
                <a:spcPct val="150000"/>
              </a:lnSpc>
              <a:buClr>
                <a:srgbClr val="000000"/>
              </a:buClr>
            </a:pPr>
            <a:r>
              <a:rPr lang="en-US" sz="2000" b="1" strike="noStrike" spc="-1" dirty="0">
                <a:solidFill>
                  <a:schemeClr val="dk1"/>
                </a:solidFill>
                <a:latin typeface="times new roman"/>
                <a:ea typeface="Calibri"/>
              </a:rPr>
              <a:t>3.Sentiment Analysis Module</a:t>
            </a:r>
            <a:r>
              <a:rPr lang="en-US" sz="2000" b="0" strike="noStrike" spc="-1" dirty="0">
                <a:solidFill>
                  <a:schemeClr val="dk1"/>
                </a:solidFill>
                <a:latin typeface="times new roman"/>
                <a:ea typeface="Calibri"/>
              </a:rPr>
              <a:t> – Analyzes emotional tone (positive, negative, neutral) of petitions.</a:t>
            </a:r>
            <a:endParaRPr lang="en-IN" sz="2000" b="0" strike="noStrike" spc="-1" dirty="0">
              <a:solidFill>
                <a:srgbClr val="000000"/>
              </a:solidFill>
              <a:latin typeface="times new roman"/>
            </a:endParaRPr>
          </a:p>
          <a:p>
            <a:pPr algn="just" defTabSz="914400">
              <a:lnSpc>
                <a:spcPct val="150000"/>
              </a:lnSpc>
              <a:buClr>
                <a:srgbClr val="000000"/>
              </a:buClr>
            </a:pPr>
            <a:r>
              <a:rPr lang="en-US" sz="2000" b="1" strike="noStrike" spc="-1" dirty="0">
                <a:solidFill>
                  <a:schemeClr val="dk1"/>
                </a:solidFill>
                <a:latin typeface="times new roman"/>
                <a:ea typeface="Calibri"/>
              </a:rPr>
              <a:t>4.Admin Module</a:t>
            </a:r>
            <a:r>
              <a:rPr lang="en-US" sz="2000" b="0" strike="noStrike" spc="-1" dirty="0">
                <a:solidFill>
                  <a:schemeClr val="dk1"/>
                </a:solidFill>
                <a:latin typeface="times new roman"/>
                <a:ea typeface="Calibri"/>
              </a:rPr>
              <a:t> – Dashboard for officials to view, filter, and manage petitions.</a:t>
            </a:r>
            <a:endParaRPr lang="en-IN" sz="2000" b="0" strike="noStrike" spc="-1" dirty="0">
              <a:solidFill>
                <a:srgbClr val="000000"/>
              </a:solidFill>
              <a:latin typeface="times new roman"/>
            </a:endParaRPr>
          </a:p>
          <a:p>
            <a:pPr algn="just" defTabSz="914400">
              <a:lnSpc>
                <a:spcPct val="150000"/>
              </a:lnSpc>
              <a:buClr>
                <a:srgbClr val="000000"/>
              </a:buClr>
            </a:pPr>
            <a:r>
              <a:rPr lang="en-US" sz="2000" b="1" strike="noStrike" spc="-1" dirty="0">
                <a:solidFill>
                  <a:schemeClr val="dk1"/>
                </a:solidFill>
                <a:latin typeface="times new roman"/>
                <a:ea typeface="Calibri"/>
              </a:rPr>
              <a:t>5.Analytics &amp; Reporting Module</a:t>
            </a:r>
            <a:r>
              <a:rPr lang="en-US" sz="2000" b="0" strike="noStrike" spc="-1" dirty="0">
                <a:solidFill>
                  <a:schemeClr val="dk1"/>
                </a:solidFill>
                <a:latin typeface="times new roman"/>
                <a:ea typeface="Calibri"/>
              </a:rPr>
              <a:t> – Provides insights like heatmaps, frequency charts, and department-wise workload.</a:t>
            </a:r>
            <a:endParaRPr lang="en-IN" sz="2000" b="0" strike="noStrike" spc="-1" dirty="0">
              <a:solidFill>
                <a:srgbClr val="000000"/>
              </a:solidFill>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12</a:t>
            </a:fld>
            <a:endParaRPr b="1">
              <a:solidFill>
                <a:schemeClr val="dk1"/>
              </a:solidFill>
            </a:endParaRPr>
          </a:p>
        </p:txBody>
      </p:sp>
      <p:sp>
        <p:nvSpPr>
          <p:cNvPr id="162" name="Google Shape;162;p11"/>
          <p:cNvSpPr txBox="1">
            <a:spLocks noGrp="1"/>
          </p:cNvSpPr>
          <p:nvPr>
            <p:ph type="title"/>
          </p:nvPr>
        </p:nvSpPr>
        <p:spPr>
          <a:xfrm>
            <a:off x="-560439" y="1099502"/>
            <a:ext cx="12192000" cy="566400"/>
          </a:xfrm>
          <a:prstGeom prst="rect">
            <a:avLst/>
          </a:prstGeom>
          <a:noFill/>
          <a:ln>
            <a:noFill/>
          </a:ln>
        </p:spPr>
        <p:txBody>
          <a:bodyPr spcFirstLastPara="1" wrap="square" lIns="91425" tIns="45700" rIns="91425" bIns="45700" anchor="ctr" anchorCtr="0">
            <a:normAutofit fontScale="90000"/>
          </a:bodyPr>
          <a:lstStyle/>
          <a:p>
            <a:pPr algn="ctr">
              <a:buSzPct val="100000"/>
            </a:pPr>
            <a:r>
              <a:rPr lang="en-US" b="1" dirty="0">
                <a:latin typeface="Times New Roman" panose="02020603050405020304" pitchFamily="18" charset="0"/>
                <a:cs typeface="Times New Roman" panose="02020603050405020304" pitchFamily="18" charset="0"/>
                <a:sym typeface="Arial Narrow"/>
              </a:rPr>
              <a:t>1.</a:t>
            </a:r>
            <a:r>
              <a:rPr lang="en-US" b="1" dirty="0">
                <a:latin typeface="Times New Roman" panose="02020603050405020304" pitchFamily="18" charset="0"/>
                <a:cs typeface="Times New Roman" panose="02020603050405020304" pitchFamily="18" charset="0"/>
              </a:rPr>
              <a:t>User Module</a:t>
            </a:r>
            <a:br>
              <a:rPr lang="en-US" b="1" dirty="0">
                <a:latin typeface="Times New Roman" panose="02020603050405020304" pitchFamily="18" charset="0"/>
                <a:cs typeface="Times New Roman" panose="02020603050405020304" pitchFamily="18" charset="0"/>
              </a:rPr>
            </a:br>
            <a:endParaRPr b="1" dirty="0">
              <a:latin typeface="Arial Narrow"/>
              <a:ea typeface="Arial Narrow"/>
              <a:cs typeface="Arial Narrow"/>
              <a:sym typeface="Arial Narrow"/>
            </a:endParaRPr>
          </a:p>
        </p:txBody>
      </p:sp>
      <p:sp>
        <p:nvSpPr>
          <p:cNvPr id="8" name="TextBox 7">
            <a:extLst>
              <a:ext uri="{FF2B5EF4-FFF2-40B4-BE49-F238E27FC236}">
                <a16:creationId xmlns:a16="http://schemas.microsoft.com/office/drawing/2014/main" id="{433991DC-CF0D-20EF-3FD6-039506B98413}"/>
              </a:ext>
            </a:extLst>
          </p:cNvPr>
          <p:cNvSpPr txBox="1"/>
          <p:nvPr/>
        </p:nvSpPr>
        <p:spPr>
          <a:xfrm>
            <a:off x="1848465" y="1580918"/>
            <a:ext cx="9615947" cy="465364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User Module allows citizens to submit petitions using text, PDF, or image uploads.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track the status of their petitions through the interface.</a:t>
            </a:r>
          </a:p>
          <a:p>
            <a:pPr>
              <a:lnSpc>
                <a:spcPct val="150000"/>
              </a:lnSpc>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Image uploads are automatically converted into meaningful captions using AI.</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PDF files are extracted into text for better analysis and accuracy.</a:t>
            </a:r>
          </a:p>
          <a:p>
            <a:pPr>
              <a:lnSpc>
                <a:spcPct val="150000"/>
              </a:lnSpc>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also receive feedback once the petition is solved by the admin.</a:t>
            </a: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13</a:t>
            </a:fld>
            <a:endParaRPr b="1">
              <a:solidFill>
                <a:schemeClr val="dk1"/>
              </a:solidFill>
            </a:endParaRPr>
          </a:p>
        </p:txBody>
      </p:sp>
      <p:sp>
        <p:nvSpPr>
          <p:cNvPr id="169" name="Google Shape;169;p12"/>
          <p:cNvSpPr txBox="1">
            <a:spLocks noGrp="1"/>
          </p:cNvSpPr>
          <p:nvPr>
            <p:ph type="title"/>
          </p:nvPr>
        </p:nvSpPr>
        <p:spPr>
          <a:xfrm>
            <a:off x="-167148" y="942186"/>
            <a:ext cx="12192000" cy="566400"/>
          </a:xfrm>
          <a:prstGeom prst="rect">
            <a:avLst/>
          </a:prstGeom>
          <a:noFill/>
          <a:ln>
            <a:noFill/>
          </a:ln>
        </p:spPr>
        <p:txBody>
          <a:bodyPr spcFirstLastPara="1" wrap="square" lIns="91425" tIns="45700" rIns="91425" bIns="45700" anchor="ctr" anchorCtr="0">
            <a:normAutofit fontScale="90000"/>
          </a:bodyPr>
          <a:lstStyle/>
          <a:p>
            <a:pPr algn="ctr">
              <a:buSzPct val="100000"/>
            </a:pPr>
            <a:r>
              <a:rPr lang="en-US" b="1" dirty="0">
                <a:latin typeface="Arial Narrow"/>
                <a:cs typeface="Times New Roman" panose="02020603050405020304" pitchFamily="18" charset="0"/>
                <a:sym typeface="Arial Narrow"/>
              </a:rPr>
              <a:t>2.</a:t>
            </a:r>
            <a:r>
              <a:rPr lang="en-IN" b="1" dirty="0">
                <a:latin typeface="Times New Roman" panose="02020603050405020304" pitchFamily="18" charset="0"/>
                <a:cs typeface="Times New Roman" panose="02020603050405020304" pitchFamily="18" charset="0"/>
              </a:rPr>
              <a:t>Petition Processing Module</a:t>
            </a:r>
            <a:br>
              <a:rPr lang="en-IN" b="1" dirty="0">
                <a:latin typeface="Times New Roman" panose="02020603050405020304" pitchFamily="18" charset="0"/>
                <a:cs typeface="Times New Roman" panose="02020603050405020304" pitchFamily="18" charset="0"/>
              </a:rPr>
            </a:br>
            <a:endParaRPr b="1" dirty="0">
              <a:latin typeface="Arial Narrow"/>
              <a:ea typeface="Arial Narrow"/>
              <a:cs typeface="Arial Narrow"/>
              <a:sym typeface="Arial Narrow"/>
            </a:endParaRPr>
          </a:p>
        </p:txBody>
      </p:sp>
      <p:sp>
        <p:nvSpPr>
          <p:cNvPr id="2" name="TextBox 1">
            <a:extLst>
              <a:ext uri="{FF2B5EF4-FFF2-40B4-BE49-F238E27FC236}">
                <a16:creationId xmlns:a16="http://schemas.microsoft.com/office/drawing/2014/main" id="{3A1CD857-21B1-4920-A7C9-AEB2F43CFBE4}"/>
              </a:ext>
            </a:extLst>
          </p:cNvPr>
          <p:cNvSpPr txBox="1"/>
          <p:nvPr/>
        </p:nvSpPr>
        <p:spPr>
          <a:xfrm>
            <a:off x="1740310" y="1508586"/>
            <a:ext cx="9517626" cy="4524315"/>
          </a:xfrm>
          <a:prstGeom prst="rect">
            <a:avLst/>
          </a:prstGeom>
          <a:noFill/>
        </p:spPr>
        <p:txBody>
          <a:bodyPr wrap="square" rtlCol="0">
            <a:spAutoFit/>
          </a:bodyPr>
          <a:lstStyle/>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module handles all backend AI processing of the submitted petition.</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performs PDF text extraction and generates image captions using the BLIP model.</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calculates urgency, priority, and keywords based on combined text inputs.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Duplicate detection compares new submissions with previous solved petitions.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processed petition data is stored for further tracking and analytics.</a:t>
            </a:r>
          </a:p>
          <a:p>
            <a:pPr marL="285750" lvl="0" indent="-285750">
              <a:lnSpc>
                <a:spcPct val="90000"/>
              </a:lnSpc>
              <a:buClr>
                <a:schemeClr val="dk1"/>
              </a:buClr>
              <a:buSzPts val="28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14</a:t>
            </a:fld>
            <a:endParaRPr b="1">
              <a:solidFill>
                <a:schemeClr val="dk1"/>
              </a:solidFill>
            </a:endParaRPr>
          </a:p>
        </p:txBody>
      </p:sp>
      <p:sp>
        <p:nvSpPr>
          <p:cNvPr id="176" name="Google Shape;176;p13"/>
          <p:cNvSpPr txBox="1">
            <a:spLocks noGrp="1"/>
          </p:cNvSpPr>
          <p:nvPr>
            <p:ph type="title"/>
          </p:nvPr>
        </p:nvSpPr>
        <p:spPr>
          <a:xfrm>
            <a:off x="-108155" y="930576"/>
            <a:ext cx="12192000" cy="546736"/>
          </a:xfrm>
          <a:prstGeom prst="rect">
            <a:avLst/>
          </a:prstGeom>
          <a:noFill/>
          <a:ln>
            <a:noFill/>
          </a:ln>
        </p:spPr>
        <p:txBody>
          <a:bodyPr spcFirstLastPara="1" wrap="square" lIns="91425" tIns="45700" rIns="91425" bIns="45700" anchor="ctr" anchorCtr="0">
            <a:normAutofit fontScale="90000"/>
          </a:bodyPr>
          <a:lstStyle/>
          <a:p>
            <a:pPr algn="ctr">
              <a:buSzPct val="100000"/>
            </a:pPr>
            <a:r>
              <a:rPr lang="en-US" b="1" dirty="0">
                <a:latin typeface="Times New Roman" panose="02020603050405020304" pitchFamily="18" charset="0"/>
                <a:cs typeface="Times New Roman" panose="02020603050405020304" pitchFamily="18" charset="0"/>
                <a:sym typeface="Arial Narrow"/>
              </a:rPr>
              <a:t>3</a:t>
            </a:r>
            <a:r>
              <a:rPr lang="en-US" b="1" dirty="0">
                <a:latin typeface="Arial Narrow"/>
                <a:cs typeface="Times New Roman" panose="02020603050405020304" pitchFamily="18" charset="0"/>
                <a:sym typeface="Arial Narrow"/>
              </a:rPr>
              <a:t>.</a:t>
            </a:r>
            <a:r>
              <a:rPr lang="en-US" b="1" dirty="0">
                <a:latin typeface="Times New Roman" panose="02020603050405020304" pitchFamily="18" charset="0"/>
                <a:cs typeface="Times New Roman" panose="02020603050405020304" pitchFamily="18" charset="0"/>
              </a:rPr>
              <a:t>Sentiment Analysis Module</a:t>
            </a:r>
            <a:br>
              <a:rPr lang="en-US" b="1" dirty="0">
                <a:latin typeface="Times New Roman" panose="02020603050405020304" pitchFamily="18" charset="0"/>
                <a:cs typeface="Times New Roman" panose="02020603050405020304" pitchFamily="18" charset="0"/>
              </a:rPr>
            </a:br>
            <a:endParaRPr b="1" dirty="0">
              <a:latin typeface="Arial Narrow"/>
              <a:ea typeface="Arial Narrow"/>
              <a:cs typeface="Arial Narrow"/>
              <a:sym typeface="Arial Narrow"/>
            </a:endParaRPr>
          </a:p>
        </p:txBody>
      </p:sp>
      <p:sp>
        <p:nvSpPr>
          <p:cNvPr id="2" name="TextBox 1">
            <a:extLst>
              <a:ext uri="{FF2B5EF4-FFF2-40B4-BE49-F238E27FC236}">
                <a16:creationId xmlns:a16="http://schemas.microsoft.com/office/drawing/2014/main" id="{BB079F50-3587-BEB3-8BD2-14C9FDCB97EE}"/>
              </a:ext>
            </a:extLst>
          </p:cNvPr>
          <p:cNvSpPr txBox="1"/>
          <p:nvPr/>
        </p:nvSpPr>
        <p:spPr>
          <a:xfrm>
            <a:off x="2005780" y="1730478"/>
            <a:ext cx="9773265" cy="4524315"/>
          </a:xfrm>
          <a:prstGeom prst="rect">
            <a:avLst/>
          </a:prstGeom>
          <a:noFill/>
        </p:spPr>
        <p:txBody>
          <a:bodyPr wrap="square" rtlCol="0">
            <a:spAutoFit/>
          </a:bodyPr>
          <a:lstStyle/>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module handles all backend AI processing of the submitted petition.</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performs PDF text extraction and generates image captions using the BLIP model.</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calculates urgency, priority, and keywords based on combined text inputs.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Duplicate detection compares new submissions with previous solved petitions.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processed petition data is stored for further tracking and analytics.</a:t>
            </a:r>
          </a:p>
          <a:p>
            <a:pPr marL="285750" lvl="0" indent="-285750">
              <a:lnSpc>
                <a:spcPct val="90000"/>
              </a:lnSpc>
              <a:buClr>
                <a:schemeClr val="dk1"/>
              </a:buClr>
              <a:buSzPts val="28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4"/>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15</a:t>
            </a:fld>
            <a:endParaRPr b="1">
              <a:solidFill>
                <a:schemeClr val="dk1"/>
              </a:solidFill>
            </a:endParaRPr>
          </a:p>
        </p:txBody>
      </p:sp>
      <p:sp>
        <p:nvSpPr>
          <p:cNvPr id="183" name="Google Shape;183;p14"/>
          <p:cNvSpPr txBox="1">
            <a:spLocks noGrp="1"/>
          </p:cNvSpPr>
          <p:nvPr>
            <p:ph type="title"/>
          </p:nvPr>
        </p:nvSpPr>
        <p:spPr>
          <a:xfrm>
            <a:off x="-363794" y="737419"/>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IN" b="1" dirty="0">
                <a:latin typeface="Times New Roman" panose="02020603050405020304" pitchFamily="18" charset="0"/>
                <a:cs typeface="Times New Roman" panose="02020603050405020304" pitchFamily="18" charset="0"/>
              </a:rPr>
              <a:t>4.Admin Module</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2" name="TextBox 1">
            <a:extLst>
              <a:ext uri="{FF2B5EF4-FFF2-40B4-BE49-F238E27FC236}">
                <a16:creationId xmlns:a16="http://schemas.microsoft.com/office/drawing/2014/main" id="{5FE75684-C729-3D76-04FF-CF6A84326BE8}"/>
              </a:ext>
            </a:extLst>
          </p:cNvPr>
          <p:cNvSpPr txBox="1"/>
          <p:nvPr/>
        </p:nvSpPr>
        <p:spPr>
          <a:xfrm>
            <a:off x="2438399" y="1671484"/>
            <a:ext cx="10068233" cy="4191981"/>
          </a:xfrm>
          <a:prstGeom prst="rect">
            <a:avLst/>
          </a:prstGeom>
          <a:noFill/>
        </p:spPr>
        <p:txBody>
          <a:bodyPr wrap="square" rtlCol="0">
            <a:spAutoFit/>
          </a:bodyPr>
          <a:lstStyle/>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Admin Module provides officials with a dashboard to manage petitions.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view all petitions, filter them, and check detailed analysis.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They can mark a petition as “Solved,” which removes it from the user view.</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Solved petitions are moved to a separate database list for tracking.</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solved petitions help detect duplicates in future submissions.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9B26821F-AF24-A40E-E716-04A886ED352A}"/>
            </a:ext>
          </a:extLst>
        </p:cNvPr>
        <p:cNvGrpSpPr/>
        <p:nvPr/>
      </p:nvGrpSpPr>
      <p:grpSpPr>
        <a:xfrm>
          <a:off x="0" y="0"/>
          <a:ext cx="0" cy="0"/>
          <a:chOff x="0" y="0"/>
          <a:chExt cx="0" cy="0"/>
        </a:xfrm>
      </p:grpSpPr>
      <p:sp>
        <p:nvSpPr>
          <p:cNvPr id="182" name="Google Shape;182;p14">
            <a:extLst>
              <a:ext uri="{FF2B5EF4-FFF2-40B4-BE49-F238E27FC236}">
                <a16:creationId xmlns:a16="http://schemas.microsoft.com/office/drawing/2014/main" id="{3966147E-4DF9-6787-2BCF-2BA80A588271}"/>
              </a:ext>
            </a:extLst>
          </p:cNvPr>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16</a:t>
            </a:fld>
            <a:endParaRPr b="1">
              <a:solidFill>
                <a:schemeClr val="dk1"/>
              </a:solidFill>
            </a:endParaRPr>
          </a:p>
        </p:txBody>
      </p:sp>
      <p:sp>
        <p:nvSpPr>
          <p:cNvPr id="183" name="Google Shape;183;p14">
            <a:extLst>
              <a:ext uri="{FF2B5EF4-FFF2-40B4-BE49-F238E27FC236}">
                <a16:creationId xmlns:a16="http://schemas.microsoft.com/office/drawing/2014/main" id="{CACDFC2B-A273-4CC8-BE83-6D90C0FE6D9C}"/>
              </a:ext>
            </a:extLst>
          </p:cNvPr>
          <p:cNvSpPr txBox="1">
            <a:spLocks noGrp="1"/>
          </p:cNvSpPr>
          <p:nvPr>
            <p:ph type="title"/>
          </p:nvPr>
        </p:nvSpPr>
        <p:spPr>
          <a:xfrm>
            <a:off x="-167148" y="658761"/>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IN" b="1" dirty="0">
                <a:latin typeface="Times New Roman" panose="02020603050405020304" pitchFamily="18" charset="0"/>
                <a:cs typeface="Times New Roman" panose="02020603050405020304" pitchFamily="18" charset="0"/>
              </a:rPr>
              <a:t>5.Analytics &amp; Reporting Module</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2" name="TextBox 1">
            <a:extLst>
              <a:ext uri="{FF2B5EF4-FFF2-40B4-BE49-F238E27FC236}">
                <a16:creationId xmlns:a16="http://schemas.microsoft.com/office/drawing/2014/main" id="{4AF7C7D4-2C3A-4B43-20B0-454BCBC78CDF}"/>
              </a:ext>
            </a:extLst>
          </p:cNvPr>
          <p:cNvSpPr txBox="1"/>
          <p:nvPr/>
        </p:nvSpPr>
        <p:spPr>
          <a:xfrm>
            <a:off x="2163097" y="1553497"/>
            <a:ext cx="8062452" cy="4191981"/>
          </a:xfrm>
          <a:prstGeom prst="rect">
            <a:avLst/>
          </a:prstGeom>
          <a:noFill/>
        </p:spPr>
        <p:txBody>
          <a:bodyPr wrap="square" rtlCol="0">
            <a:spAutoFit/>
          </a:bodyPr>
          <a:lstStyle/>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module generates visual charts and reports for decision-making.</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shows priority distribution, urgency levels, and sentiment trends.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see solved vs unsolved petitions in clear graphical formats.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Heatmaps, frequency charts, and workload insights are displayed.</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285750" lvl="0" indent="-285750">
              <a:lnSpc>
                <a:spcPct val="150000"/>
              </a:lnSpc>
              <a:buSzPts val="28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a complete data-driven picture of petition trends and issues.</a:t>
            </a:r>
          </a:p>
        </p:txBody>
      </p:sp>
    </p:spTree>
    <p:extLst>
      <p:ext uri="{BB962C8B-B14F-4D97-AF65-F5344CB8AC3E}">
        <p14:creationId xmlns:p14="http://schemas.microsoft.com/office/powerpoint/2010/main" val="1596524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B9E89-CDB5-0859-23F0-7D557A7648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3A8E5764-0211-4F69-199E-6C02B4E6A967}"/>
              </a:ext>
            </a:extLst>
          </p:cNvPr>
          <p:cNvPicPr>
            <a:picLocks noChangeAspect="1"/>
          </p:cNvPicPr>
          <p:nvPr/>
        </p:nvPicPr>
        <p:blipFill>
          <a:blip r:embed="rId2"/>
          <a:stretch>
            <a:fillRect/>
          </a:stretch>
        </p:blipFill>
        <p:spPr>
          <a:xfrm>
            <a:off x="196646" y="736020"/>
            <a:ext cx="11562735" cy="5620330"/>
          </a:xfrm>
          <a:prstGeom prst="rect">
            <a:avLst/>
          </a:prstGeom>
        </p:spPr>
      </p:pic>
    </p:spTree>
    <p:extLst>
      <p:ext uri="{BB962C8B-B14F-4D97-AF65-F5344CB8AC3E}">
        <p14:creationId xmlns:p14="http://schemas.microsoft.com/office/powerpoint/2010/main" val="2365334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E3EF3D-CD50-586F-8802-6320E4ACEB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4" name="Picture 3">
            <a:extLst>
              <a:ext uri="{FF2B5EF4-FFF2-40B4-BE49-F238E27FC236}">
                <a16:creationId xmlns:a16="http://schemas.microsoft.com/office/drawing/2014/main" id="{037AD82A-7888-269C-A093-D8B135E1528F}"/>
              </a:ext>
            </a:extLst>
          </p:cNvPr>
          <p:cNvPicPr>
            <a:picLocks noChangeAspect="1"/>
          </p:cNvPicPr>
          <p:nvPr/>
        </p:nvPicPr>
        <p:blipFill>
          <a:blip r:embed="rId2"/>
          <a:stretch>
            <a:fillRect/>
          </a:stretch>
        </p:blipFill>
        <p:spPr>
          <a:xfrm>
            <a:off x="757084" y="375364"/>
            <a:ext cx="11353800" cy="5980986"/>
          </a:xfrm>
          <a:prstGeom prst="rect">
            <a:avLst/>
          </a:prstGeom>
        </p:spPr>
      </p:pic>
    </p:spTree>
    <p:extLst>
      <p:ext uri="{BB962C8B-B14F-4D97-AF65-F5344CB8AC3E}">
        <p14:creationId xmlns:p14="http://schemas.microsoft.com/office/powerpoint/2010/main" val="2533623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0" y="34297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Arial Narrow"/>
                <a:ea typeface="Arial Narrow"/>
                <a:cs typeface="Arial Narrow"/>
                <a:sym typeface="Arial Narrow"/>
              </a:rPr>
              <a:t>CONCLUSION</a:t>
            </a:r>
            <a:endParaRPr b="1">
              <a:latin typeface="Arial Narrow"/>
              <a:ea typeface="Arial Narrow"/>
              <a:cs typeface="Arial Narrow"/>
              <a:sym typeface="Arial Narrow"/>
            </a:endParaRPr>
          </a:p>
        </p:txBody>
      </p:sp>
      <p:sp>
        <p:nvSpPr>
          <p:cNvPr id="195" name="Google Shape;195;p16"/>
          <p:cNvSpPr txBox="1">
            <a:spLocks noGrp="1"/>
          </p:cNvSpPr>
          <p:nvPr>
            <p:ph type="body" idx="1"/>
          </p:nvPr>
        </p:nvSpPr>
        <p:spPr>
          <a:xfrm>
            <a:off x="1452977" y="1794284"/>
            <a:ext cx="9981939" cy="4351338"/>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SzPts val="2800"/>
              <a:buNone/>
            </a:pPr>
            <a:r>
              <a:rPr lang="en-US" sz="2000" spc="-1" dirty="0">
                <a:latin typeface="times new roman"/>
              </a:rPr>
              <a:t>The proposed AI-powered petition management system overcomes the limitations of existing manual grievance redressal methods. By integrating NLP and machine learning, it ensures automated classification, urgency detection, and duplicate handling. Sentiment analysis and engagement tracking further enhance prioritization and transparency. Overall, the system improves efficiency, scalability, and citizen trust in digital governance</a:t>
            </a:r>
            <a:endParaRPr lang="en-IN" sz="2000" spc="-1" dirty="0">
              <a:solidFill>
                <a:srgbClr val="000000"/>
              </a:solidFill>
              <a:latin typeface="times new roman"/>
            </a:endParaRPr>
          </a:p>
          <a:p>
            <a:pPr marL="0" lvl="0" indent="0">
              <a:lnSpc>
                <a:spcPct val="150000"/>
              </a:lnSpc>
              <a:spcBef>
                <a:spcPts val="0"/>
              </a:spcBef>
              <a:buSzPts val="2800"/>
              <a:buNone/>
            </a:pPr>
            <a:endParaRPr lang="en-US" sz="2000" dirty="0">
              <a:latin typeface="Arial Narrow" panose="020B0606020202030204" pitchFamily="34" charset="0"/>
            </a:endParaRPr>
          </a:p>
        </p:txBody>
      </p:sp>
      <p:sp>
        <p:nvSpPr>
          <p:cNvPr id="196"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19</a:t>
            </a:fld>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58DC945-209D-3CC4-978D-F1775DC4CA21}"/>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41AD951B-2AFC-752E-2E78-41812B04042F}"/>
              </a:ext>
            </a:extLst>
          </p:cNvPr>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lvl="0" algn="ctr">
              <a:buSzPts val="4400"/>
            </a:pPr>
            <a:r>
              <a:rPr lang="en-US" b="1" dirty="0">
                <a:latin typeface="Arial Narrow"/>
              </a:rPr>
              <a:t>FUTURE ENHANCEMENTS </a:t>
            </a:r>
            <a:endParaRPr b="1" dirty="0">
              <a:latin typeface="Arial Narrow"/>
              <a:sym typeface="Arial Narrow"/>
            </a:endParaRPr>
          </a:p>
        </p:txBody>
      </p:sp>
      <p:sp>
        <p:nvSpPr>
          <p:cNvPr id="195" name="Google Shape;195;p16">
            <a:extLst>
              <a:ext uri="{FF2B5EF4-FFF2-40B4-BE49-F238E27FC236}">
                <a16:creationId xmlns:a16="http://schemas.microsoft.com/office/drawing/2014/main" id="{648B83C1-3DE7-3E3F-40F8-76D0B6241301}"/>
              </a:ext>
            </a:extLst>
          </p:cNvPr>
          <p:cNvSpPr txBox="1">
            <a:spLocks noGrp="1"/>
          </p:cNvSpPr>
          <p:nvPr>
            <p:ph type="body" idx="1"/>
          </p:nvPr>
        </p:nvSpPr>
        <p:spPr>
          <a:xfrm>
            <a:off x="1025013" y="1588808"/>
            <a:ext cx="10515600" cy="4351338"/>
          </a:xfrm>
          <a:prstGeom prst="rect">
            <a:avLst/>
          </a:prstGeom>
          <a:noFill/>
          <a:ln>
            <a:noFill/>
          </a:ln>
        </p:spPr>
        <p:txBody>
          <a:bodyPr spcFirstLastPara="1" wrap="square" lIns="91425" tIns="45700" rIns="91425" bIns="45700" anchor="t" anchorCtr="0">
            <a:normAutofit/>
          </a:bodyPr>
          <a:lstStyle/>
          <a:p>
            <a:pPr marL="342900" lvl="0" eaLnBrk="0" fontAlgn="base" hangingPunct="0">
              <a:lnSpc>
                <a:spcPct val="100000"/>
              </a:lnSpc>
              <a:spcBef>
                <a:spcPct val="0"/>
              </a:spcBef>
              <a:spcAft>
                <a:spcPct val="0"/>
              </a:spcAft>
              <a:buClrTx/>
              <a:buSzTx/>
              <a:buFont typeface="+mj-lt"/>
              <a:buAutoNum type="arabicPeriod"/>
            </a:pPr>
            <a:r>
              <a:rPr lang="en-US" altLang="en-US" sz="2000" b="1" dirty="0">
                <a:solidFill>
                  <a:schemeClr val="tx1"/>
                </a:solidFill>
                <a:latin typeface="Times New Roman" panose="02020603050405020304" pitchFamily="18" charset="0"/>
                <a:cs typeface="Times New Roman" panose="02020603050405020304" pitchFamily="18" charset="0"/>
              </a:rPr>
              <a:t>Multilingual Petition Processing</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Enable petition submission and analysis in multiple regional languages for wider accessibility.</a:t>
            </a:r>
            <a:br>
              <a:rPr lang="en-US" altLang="en-US" sz="2000" dirty="0">
                <a:solidFill>
                  <a:schemeClr val="tx1"/>
                </a:solidFill>
                <a:latin typeface="Times New Roman" panose="02020603050405020304" pitchFamily="18" charset="0"/>
                <a:cs typeface="Times New Roman" panose="02020603050405020304" pitchFamily="18" charset="0"/>
              </a:rPr>
            </a:b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eaLnBrk="0" fontAlgn="base" hangingPunct="0">
              <a:lnSpc>
                <a:spcPct val="100000"/>
              </a:lnSpc>
              <a:spcBef>
                <a:spcPct val="0"/>
              </a:spcBef>
              <a:spcAft>
                <a:spcPct val="0"/>
              </a:spcAft>
              <a:buClrTx/>
              <a:buSzTx/>
              <a:buFont typeface="+mj-lt"/>
              <a:buAutoNum type="arabicPeriod"/>
            </a:pPr>
            <a:r>
              <a:rPr lang="en-US" altLang="en-US" sz="2000" b="1" dirty="0">
                <a:solidFill>
                  <a:schemeClr val="tx1"/>
                </a:solidFill>
                <a:latin typeface="Times New Roman" panose="02020603050405020304" pitchFamily="18" charset="0"/>
                <a:cs typeface="Times New Roman" panose="02020603050405020304" pitchFamily="18" charset="0"/>
              </a:rPr>
              <a:t>Voice-to-Text Petition Submission</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Allow citizens to submit petitions through voice input, making the system more user-friendly for non-typists.</a:t>
            </a:r>
            <a:br>
              <a:rPr lang="en-US" altLang="en-US" sz="2000" dirty="0">
                <a:solidFill>
                  <a:schemeClr val="tx1"/>
                </a:solidFill>
                <a:latin typeface="Times New Roman" panose="02020603050405020304" pitchFamily="18" charset="0"/>
                <a:cs typeface="Times New Roman" panose="02020603050405020304" pitchFamily="18" charset="0"/>
              </a:rPr>
            </a:b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lvl="0" eaLnBrk="0" fontAlgn="base" hangingPunct="0">
              <a:lnSpc>
                <a:spcPct val="100000"/>
              </a:lnSpc>
              <a:spcBef>
                <a:spcPct val="0"/>
              </a:spcBef>
              <a:spcAft>
                <a:spcPct val="0"/>
              </a:spcAft>
              <a:buClrTx/>
              <a:buSzTx/>
              <a:buFont typeface="+mj-lt"/>
              <a:buAutoNum type="arabicPeriod"/>
            </a:pPr>
            <a:r>
              <a:rPr lang="en-US" altLang="en-US" sz="2000" b="1" dirty="0">
                <a:solidFill>
                  <a:schemeClr val="tx1"/>
                </a:solidFill>
                <a:latin typeface="Times New Roman" panose="02020603050405020304" pitchFamily="18" charset="0"/>
                <a:cs typeface="Times New Roman" panose="02020603050405020304" pitchFamily="18" charset="0"/>
              </a:rPr>
              <a:t>Chatbot Support &amp; Virtual Assistance</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Integrate a chatbot to help citizens track status, submit issues, and get instant responses.</a:t>
            </a:r>
          </a:p>
          <a:p>
            <a:pPr marL="0" lvl="0" indent="0">
              <a:spcBef>
                <a:spcPts val="0"/>
              </a:spcBef>
              <a:buSzPts val="2800"/>
              <a:buNone/>
            </a:pPr>
            <a:endParaRPr lang="en-US" sz="2000" dirty="0">
              <a:latin typeface="Arial Narrow" panose="020B0606020202030204" pitchFamily="34" charset="0"/>
            </a:endParaRPr>
          </a:p>
        </p:txBody>
      </p:sp>
      <p:sp>
        <p:nvSpPr>
          <p:cNvPr id="196" name="Google Shape;196;p16">
            <a:extLst>
              <a:ext uri="{FF2B5EF4-FFF2-40B4-BE49-F238E27FC236}">
                <a16:creationId xmlns:a16="http://schemas.microsoft.com/office/drawing/2014/main" id="{5F65EE21-0D87-9A7B-FC62-462463E7E7B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20</a:t>
            </a:fld>
            <a:endParaRPr>
              <a:solidFill>
                <a:schemeClr val="dk1"/>
              </a:solidFill>
            </a:endParaRPr>
          </a:p>
        </p:txBody>
      </p:sp>
    </p:spTree>
    <p:extLst>
      <p:ext uri="{BB962C8B-B14F-4D97-AF65-F5344CB8AC3E}">
        <p14:creationId xmlns:p14="http://schemas.microsoft.com/office/powerpoint/2010/main" val="2834070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1313</Words>
  <Application>Microsoft Office PowerPoint</Application>
  <PresentationFormat>Widescreen</PresentationFormat>
  <Paragraphs>138</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Times New Roman</vt:lpstr>
      <vt:lpstr>Arial Narrow</vt:lpstr>
      <vt:lpstr>Calibri</vt:lpstr>
      <vt:lpstr>Wingdings</vt:lpstr>
      <vt:lpstr>Arial</vt:lpstr>
      <vt:lpstr>Times New Roman</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PowerPoint Presentation</vt:lpstr>
      <vt:lpstr>SOFTWARE AND HARDWARE REQUIREMENTS </vt:lpstr>
      <vt:lpstr>MODULES </vt:lpstr>
      <vt:lpstr>1.User Module </vt:lpstr>
      <vt:lpstr>2.Petition Processing Module </vt:lpstr>
      <vt:lpstr>3.Sentiment Analysis Module </vt:lpstr>
      <vt:lpstr>4.Admin Module</vt:lpstr>
      <vt:lpstr>5.Analytics &amp; Reporting Module</vt:lpstr>
      <vt:lpstr>PowerPoint Presentation</vt:lpstr>
      <vt:lpstr>PowerPoint Presentation</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Saravanan M</dc:creator>
  <cp:lastModifiedBy>ABINESH R</cp:lastModifiedBy>
  <cp:revision>14</cp:revision>
  <dcterms:modified xsi:type="dcterms:W3CDTF">2025-11-30T16:00:35Z</dcterms:modified>
</cp:coreProperties>
</file>